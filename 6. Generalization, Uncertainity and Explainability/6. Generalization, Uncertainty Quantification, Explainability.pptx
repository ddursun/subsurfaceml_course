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17" r:id="rId2"/>
    <p:sldId id="305" r:id="rId3"/>
    <p:sldId id="256" r:id="rId4"/>
    <p:sldId id="350" r:id="rId5"/>
    <p:sldId id="370" r:id="rId6"/>
    <p:sldId id="371" r:id="rId7"/>
    <p:sldId id="366" r:id="rId8"/>
    <p:sldId id="367" r:id="rId9"/>
    <p:sldId id="368" r:id="rId10"/>
    <p:sldId id="369" r:id="rId11"/>
    <p:sldId id="356" r:id="rId12"/>
    <p:sldId id="329" r:id="rId13"/>
    <p:sldId id="355" r:id="rId14"/>
    <p:sldId id="357" r:id="rId15"/>
    <p:sldId id="359" r:id="rId16"/>
    <p:sldId id="352" r:id="rId17"/>
    <p:sldId id="360" r:id="rId18"/>
    <p:sldId id="353" r:id="rId19"/>
    <p:sldId id="361" r:id="rId20"/>
    <p:sldId id="339" r:id="rId21"/>
    <p:sldId id="358" r:id="rId22"/>
    <p:sldId id="364" r:id="rId23"/>
    <p:sldId id="363" r:id="rId24"/>
    <p:sldId id="332" r:id="rId25"/>
    <p:sldId id="33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4BDB9B2-C0CD-48A1-8798-A976769B7699}">
          <p14:sldIdLst>
            <p14:sldId id="317"/>
            <p14:sldId id="305"/>
            <p14:sldId id="256"/>
          </p14:sldIdLst>
        </p14:section>
        <p14:section name="UQ" id="{60926139-A100-4D1D-8666-8AA15FCBF709}">
          <p14:sldIdLst>
            <p14:sldId id="350"/>
            <p14:sldId id="370"/>
            <p14:sldId id="371"/>
            <p14:sldId id="366"/>
            <p14:sldId id="367"/>
            <p14:sldId id="368"/>
            <p14:sldId id="369"/>
          </p14:sldIdLst>
        </p14:section>
        <p14:section name="Generalization" id="{24A85930-A0B1-49E2-BA7A-1E6401DA5B36}">
          <p14:sldIdLst>
            <p14:sldId id="356"/>
            <p14:sldId id="329"/>
            <p14:sldId id="355"/>
            <p14:sldId id="357"/>
            <p14:sldId id="359"/>
            <p14:sldId id="352"/>
            <p14:sldId id="360"/>
            <p14:sldId id="353"/>
            <p14:sldId id="361"/>
          </p14:sldIdLst>
        </p14:section>
        <p14:section name="Explainability" id="{202CB582-BE55-4F9E-B3A2-AF0C77D058A1}">
          <p14:sldIdLst>
            <p14:sldId id="339"/>
            <p14:sldId id="358"/>
            <p14:sldId id="364"/>
            <p14:sldId id="363"/>
          </p14:sldIdLst>
        </p14:section>
        <p14:section name="Back-up" id="{140B3671-966C-4851-BFDC-D9FD7E7D7938}">
          <p14:sldIdLst>
            <p14:sldId id="332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800D"/>
    <a:srgbClr val="DEC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1696" autoAdjust="0"/>
  </p:normalViewPr>
  <p:slideViewPr>
    <p:cSldViewPr snapToGrid="0">
      <p:cViewPr varScale="1">
        <p:scale>
          <a:sx n="81" d="100"/>
          <a:sy n="81" d="100"/>
        </p:scale>
        <p:origin x="47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sun Dashdamirov" userId="a8b9d0e1f239c75f" providerId="LiveId" clId="{E297FC27-9774-4AAE-B428-959B432F1B03}"/>
    <pc:docChg chg="undo custSel modSld sldOrd modSection">
      <pc:chgData name="Dursun Dashdamirov" userId="a8b9d0e1f239c75f" providerId="LiveId" clId="{E297FC27-9774-4AAE-B428-959B432F1B03}" dt="2026-03-31T16:52:37.567" v="519" actId="20577"/>
      <pc:docMkLst>
        <pc:docMk/>
      </pc:docMkLst>
      <pc:sldChg chg="modSp mod">
        <pc:chgData name="Dursun Dashdamirov" userId="a8b9d0e1f239c75f" providerId="LiveId" clId="{E297FC27-9774-4AAE-B428-959B432F1B03}" dt="2026-03-31T16:52:23.090" v="509" actId="20577"/>
        <pc:sldMkLst>
          <pc:docMk/>
          <pc:sldMk cId="2724424903" sldId="256"/>
        </pc:sldMkLst>
        <pc:spChg chg="mod">
          <ac:chgData name="Dursun Dashdamirov" userId="a8b9d0e1f239c75f" providerId="LiveId" clId="{E297FC27-9774-4AAE-B428-959B432F1B03}" dt="2026-03-31T16:52:23.090" v="509" actId="20577"/>
          <ac:spMkLst>
            <pc:docMk/>
            <pc:sldMk cId="2724424903" sldId="256"/>
            <ac:spMk id="3" creationId="{6A2E81A3-2578-4F4D-0CC2-D114C98E2ED9}"/>
          </ac:spMkLst>
        </pc:spChg>
        <pc:spChg chg="mod">
          <ac:chgData name="Dursun Dashdamirov" userId="a8b9d0e1f239c75f" providerId="LiveId" clId="{E297FC27-9774-4AAE-B428-959B432F1B03}" dt="2026-03-31T16:52:19.652" v="505" actId="20577"/>
          <ac:spMkLst>
            <pc:docMk/>
            <pc:sldMk cId="2724424903" sldId="256"/>
            <ac:spMk id="4" creationId="{30F994E6-9ED9-A6B1-97BF-61D3C92671E8}"/>
          </ac:spMkLst>
        </pc:spChg>
        <pc:spChg chg="mod">
          <ac:chgData name="Dursun Dashdamirov" userId="a8b9d0e1f239c75f" providerId="LiveId" clId="{E297FC27-9774-4AAE-B428-959B432F1B03}" dt="2026-03-31T16:52:16.862" v="503" actId="20577"/>
          <ac:spMkLst>
            <pc:docMk/>
            <pc:sldMk cId="2724424903" sldId="256"/>
            <ac:spMk id="5" creationId="{EB9FF1F8-D2D2-7E02-AB3C-738D4EEA725C}"/>
          </ac:spMkLst>
        </pc:spChg>
        <pc:spChg chg="mod">
          <ac:chgData name="Dursun Dashdamirov" userId="a8b9d0e1f239c75f" providerId="LiveId" clId="{E297FC27-9774-4AAE-B428-959B432F1B03}" dt="2026-03-31T16:52:21.490" v="507" actId="20577"/>
          <ac:spMkLst>
            <pc:docMk/>
            <pc:sldMk cId="2724424903" sldId="256"/>
            <ac:spMk id="7" creationId="{E08DCE4B-C705-75D6-126D-5D18748F630D}"/>
          </ac:spMkLst>
        </pc:spChg>
      </pc:sldChg>
      <pc:sldChg chg="modSp mod">
        <pc:chgData name="Dursun Dashdamirov" userId="a8b9d0e1f239c75f" providerId="LiveId" clId="{E297FC27-9774-4AAE-B428-959B432F1B03}" dt="2026-03-31T16:52:13.010" v="501" actId="20577"/>
        <pc:sldMkLst>
          <pc:docMk/>
          <pc:sldMk cId="2450118650" sldId="305"/>
        </pc:sldMkLst>
        <pc:spChg chg="mod">
          <ac:chgData name="Dursun Dashdamirov" userId="a8b9d0e1f239c75f" providerId="LiveId" clId="{E297FC27-9774-4AAE-B428-959B432F1B03}" dt="2026-03-31T16:52:13.010" v="501" actId="20577"/>
          <ac:spMkLst>
            <pc:docMk/>
            <pc:sldMk cId="2450118650" sldId="305"/>
            <ac:spMk id="6" creationId="{93AA4E21-D0B2-81E6-432D-8F686C9E5927}"/>
          </ac:spMkLst>
        </pc:spChg>
      </pc:sldChg>
      <pc:sldChg chg="modSp mod">
        <pc:chgData name="Dursun Dashdamirov" userId="a8b9d0e1f239c75f" providerId="LiveId" clId="{E297FC27-9774-4AAE-B428-959B432F1B03}" dt="2026-03-24T05:45:33.293" v="480" actId="20577"/>
        <pc:sldMkLst>
          <pc:docMk/>
          <pc:sldMk cId="349635287" sldId="317"/>
        </pc:sldMkLst>
        <pc:spChg chg="mod">
          <ac:chgData name="Dursun Dashdamirov" userId="a8b9d0e1f239c75f" providerId="LiveId" clId="{E297FC27-9774-4AAE-B428-959B432F1B03}" dt="2026-03-24T05:45:33.293" v="480" actId="20577"/>
          <ac:spMkLst>
            <pc:docMk/>
            <pc:sldMk cId="349635287" sldId="317"/>
            <ac:spMk id="8" creationId="{FDB994A0-2106-6A73-A1F2-B386900A0C71}"/>
          </ac:spMkLst>
        </pc:spChg>
      </pc:sldChg>
      <pc:sldChg chg="modNotesTx">
        <pc:chgData name="Dursun Dashdamirov" userId="a8b9d0e1f239c75f" providerId="LiveId" clId="{E297FC27-9774-4AAE-B428-959B432F1B03}" dt="2026-03-15T06:26:16.871" v="2" actId="20577"/>
        <pc:sldMkLst>
          <pc:docMk/>
          <pc:sldMk cId="521656389" sldId="329"/>
        </pc:sldMkLst>
      </pc:sldChg>
      <pc:sldChg chg="ord modNotesTx">
        <pc:chgData name="Dursun Dashdamirov" userId="a8b9d0e1f239c75f" providerId="LiveId" clId="{E297FC27-9774-4AAE-B428-959B432F1B03}" dt="2026-03-15T07:11:29.910" v="471"/>
        <pc:sldMkLst>
          <pc:docMk/>
          <pc:sldMk cId="866461672" sldId="332"/>
        </pc:sldMkLst>
      </pc:sldChg>
      <pc:sldChg chg="modNotesTx">
        <pc:chgData name="Dursun Dashdamirov" userId="a8b9d0e1f239c75f" providerId="LiveId" clId="{E297FC27-9774-4AAE-B428-959B432F1B03}" dt="2026-03-15T06:26:35.657" v="8" actId="20577"/>
        <pc:sldMkLst>
          <pc:docMk/>
          <pc:sldMk cId="1150640535" sldId="339"/>
        </pc:sldMkLst>
      </pc:sldChg>
      <pc:sldChg chg="modSp mod">
        <pc:chgData name="Dursun Dashdamirov" userId="a8b9d0e1f239c75f" providerId="LiveId" clId="{E297FC27-9774-4AAE-B428-959B432F1B03}" dt="2026-03-31T16:52:26.326" v="511" actId="20577"/>
        <pc:sldMkLst>
          <pc:docMk/>
          <pc:sldMk cId="2748178400" sldId="350"/>
        </pc:sldMkLst>
        <pc:spChg chg="mod">
          <ac:chgData name="Dursun Dashdamirov" userId="a8b9d0e1f239c75f" providerId="LiveId" clId="{E297FC27-9774-4AAE-B428-959B432F1B03}" dt="2026-03-31T16:52:26.326" v="511" actId="20577"/>
          <ac:spMkLst>
            <pc:docMk/>
            <pc:sldMk cId="2748178400" sldId="350"/>
            <ac:spMk id="5" creationId="{87A619BF-A746-79AF-07DF-79FD8A86A248}"/>
          </ac:spMkLst>
        </pc:spChg>
      </pc:sldChg>
      <pc:sldChg chg="modNotesTx">
        <pc:chgData name="Dursun Dashdamirov" userId="a8b9d0e1f239c75f" providerId="LiveId" clId="{E297FC27-9774-4AAE-B428-959B432F1B03}" dt="2026-03-15T06:26:23.987" v="4" actId="20577"/>
        <pc:sldMkLst>
          <pc:docMk/>
          <pc:sldMk cId="354056183" sldId="352"/>
        </pc:sldMkLst>
      </pc:sldChg>
      <pc:sldChg chg="modNotesTx">
        <pc:chgData name="Dursun Dashdamirov" userId="a8b9d0e1f239c75f" providerId="LiveId" clId="{E297FC27-9774-4AAE-B428-959B432F1B03}" dt="2026-03-15T06:26:29.791" v="6" actId="20577"/>
        <pc:sldMkLst>
          <pc:docMk/>
          <pc:sldMk cId="124598033" sldId="353"/>
        </pc:sldMkLst>
      </pc:sldChg>
      <pc:sldChg chg="modNotesTx">
        <pc:chgData name="Dursun Dashdamirov" userId="a8b9d0e1f239c75f" providerId="LiveId" clId="{E297FC27-9774-4AAE-B428-959B432F1B03}" dt="2026-03-15T06:26:19.357" v="3" actId="20577"/>
        <pc:sldMkLst>
          <pc:docMk/>
          <pc:sldMk cId="2326600650" sldId="355"/>
        </pc:sldMkLst>
      </pc:sldChg>
      <pc:sldChg chg="modNotesTx">
        <pc:chgData name="Dursun Dashdamirov" userId="a8b9d0e1f239c75f" providerId="LiveId" clId="{E297FC27-9774-4AAE-B428-959B432F1B03}" dt="2026-03-15T06:26:12.291" v="1" actId="20577"/>
        <pc:sldMkLst>
          <pc:docMk/>
          <pc:sldMk cId="2291463250" sldId="356"/>
        </pc:sldMkLst>
      </pc:sldChg>
      <pc:sldChg chg="modNotesTx">
        <pc:chgData name="Dursun Dashdamirov" userId="a8b9d0e1f239c75f" providerId="LiveId" clId="{E297FC27-9774-4AAE-B428-959B432F1B03}" dt="2026-03-15T06:26:38.011" v="9" actId="20577"/>
        <pc:sldMkLst>
          <pc:docMk/>
          <pc:sldMk cId="4149856281" sldId="358"/>
        </pc:sldMkLst>
      </pc:sldChg>
      <pc:sldChg chg="modNotesTx">
        <pc:chgData name="Dursun Dashdamirov" userId="a8b9d0e1f239c75f" providerId="LiveId" clId="{E297FC27-9774-4AAE-B428-959B432F1B03}" dt="2026-03-15T06:26:26.991" v="5" actId="20577"/>
        <pc:sldMkLst>
          <pc:docMk/>
          <pc:sldMk cId="1634589212" sldId="360"/>
        </pc:sldMkLst>
      </pc:sldChg>
      <pc:sldChg chg="modNotesTx">
        <pc:chgData name="Dursun Dashdamirov" userId="a8b9d0e1f239c75f" providerId="LiveId" clId="{E297FC27-9774-4AAE-B428-959B432F1B03}" dt="2026-03-15T06:26:32.191" v="7" actId="20577"/>
        <pc:sldMkLst>
          <pc:docMk/>
          <pc:sldMk cId="3579577718" sldId="361"/>
        </pc:sldMkLst>
      </pc:sldChg>
      <pc:sldChg chg="addSp delSp modSp mod">
        <pc:chgData name="Dursun Dashdamirov" userId="a8b9d0e1f239c75f" providerId="LiveId" clId="{E297FC27-9774-4AAE-B428-959B432F1B03}" dt="2026-03-15T07:12:19.019" v="476" actId="1076"/>
        <pc:sldMkLst>
          <pc:docMk/>
          <pc:sldMk cId="395239554" sldId="364"/>
        </pc:sldMkLst>
        <pc:spChg chg="add mod">
          <ac:chgData name="Dursun Dashdamirov" userId="a8b9d0e1f239c75f" providerId="LiveId" clId="{E297FC27-9774-4AAE-B428-959B432F1B03}" dt="2026-03-15T07:02:31.360" v="34" actId="20577"/>
          <ac:spMkLst>
            <pc:docMk/>
            <pc:sldMk cId="395239554" sldId="364"/>
            <ac:spMk id="5" creationId="{51DD1451-4F43-DDBD-F6E0-207E5CBC37F3}"/>
          </ac:spMkLst>
        </pc:spChg>
        <pc:spChg chg="add mod">
          <ac:chgData name="Dursun Dashdamirov" userId="a8b9d0e1f239c75f" providerId="LiveId" clId="{E297FC27-9774-4AAE-B428-959B432F1B03}" dt="2026-03-15T07:12:19.019" v="476" actId="1076"/>
          <ac:spMkLst>
            <pc:docMk/>
            <pc:sldMk cId="395239554" sldId="364"/>
            <ac:spMk id="7" creationId="{465D12FD-B11C-BC28-970C-B04F14E63D7C}"/>
          </ac:spMkLst>
        </pc:spChg>
        <pc:spChg chg="add mod">
          <ac:chgData name="Dursun Dashdamirov" userId="a8b9d0e1f239c75f" providerId="LiveId" clId="{E297FC27-9774-4AAE-B428-959B432F1B03}" dt="2026-03-15T07:12:17.279" v="475" actId="14100"/>
          <ac:spMkLst>
            <pc:docMk/>
            <pc:sldMk cId="395239554" sldId="364"/>
            <ac:spMk id="8" creationId="{24411A49-A4E8-61A5-EA81-C5E6F120B8FC}"/>
          </ac:spMkLst>
        </pc:spChg>
        <pc:spChg chg="add mod">
          <ac:chgData name="Dursun Dashdamirov" userId="a8b9d0e1f239c75f" providerId="LiveId" clId="{E297FC27-9774-4AAE-B428-959B432F1B03}" dt="2026-03-15T07:09:24.673" v="265" actId="403"/>
          <ac:spMkLst>
            <pc:docMk/>
            <pc:sldMk cId="395239554" sldId="364"/>
            <ac:spMk id="9" creationId="{7DB4508F-7FA8-53EC-CBD1-10B9F2086B7F}"/>
          </ac:spMkLst>
        </pc:spChg>
        <pc:spChg chg="add mod">
          <ac:chgData name="Dursun Dashdamirov" userId="a8b9d0e1f239c75f" providerId="LiveId" clId="{E297FC27-9774-4AAE-B428-959B432F1B03}" dt="2026-03-15T07:11:01.807" v="468" actId="1076"/>
          <ac:spMkLst>
            <pc:docMk/>
            <pc:sldMk cId="395239554" sldId="364"/>
            <ac:spMk id="10" creationId="{BE6FEA8D-07D2-D7ED-D200-ADCFBFAD9F7C}"/>
          </ac:spMkLst>
        </pc:spChg>
        <pc:picChg chg="add mod">
          <ac:chgData name="Dursun Dashdamirov" userId="a8b9d0e1f239c75f" providerId="LiveId" clId="{E297FC27-9774-4AAE-B428-959B432F1B03}" dt="2026-03-15T07:10:58.985" v="467" actId="1076"/>
          <ac:picMkLst>
            <pc:docMk/>
            <pc:sldMk cId="395239554" sldId="364"/>
            <ac:picMk id="16" creationId="{588C72E4-1C2E-365F-308C-08C110CE46F5}"/>
          </ac:picMkLst>
        </pc:picChg>
        <pc:picChg chg="add mod">
          <ac:chgData name="Dursun Dashdamirov" userId="a8b9d0e1f239c75f" providerId="LiveId" clId="{E297FC27-9774-4AAE-B428-959B432F1B03}" dt="2026-03-15T07:09:32.970" v="271" actId="1076"/>
          <ac:picMkLst>
            <pc:docMk/>
            <pc:sldMk cId="395239554" sldId="364"/>
            <ac:picMk id="19" creationId="{EA529974-1B13-F012-B127-3216D289184C}"/>
          </ac:picMkLst>
        </pc:picChg>
      </pc:sldChg>
      <pc:sldChg chg="modSp mod">
        <pc:chgData name="Dursun Dashdamirov" userId="a8b9d0e1f239c75f" providerId="LiveId" clId="{E297FC27-9774-4AAE-B428-959B432F1B03}" dt="2026-03-31T16:52:32.210" v="515" actId="20577"/>
        <pc:sldMkLst>
          <pc:docMk/>
          <pc:sldMk cId="2065732393" sldId="366"/>
        </pc:sldMkLst>
        <pc:spChg chg="mod">
          <ac:chgData name="Dursun Dashdamirov" userId="a8b9d0e1f239c75f" providerId="LiveId" clId="{E297FC27-9774-4AAE-B428-959B432F1B03}" dt="2026-03-31T16:52:32.210" v="515" actId="20577"/>
          <ac:spMkLst>
            <pc:docMk/>
            <pc:sldMk cId="2065732393" sldId="366"/>
            <ac:spMk id="5" creationId="{87A619BF-A746-79AF-07DF-79FD8A86A248}"/>
          </ac:spMkLst>
        </pc:spChg>
      </pc:sldChg>
      <pc:sldChg chg="modSp mod">
        <pc:chgData name="Dursun Dashdamirov" userId="a8b9d0e1f239c75f" providerId="LiveId" clId="{E297FC27-9774-4AAE-B428-959B432F1B03}" dt="2026-03-31T16:52:34.929" v="517" actId="20577"/>
        <pc:sldMkLst>
          <pc:docMk/>
          <pc:sldMk cId="487729179" sldId="367"/>
        </pc:sldMkLst>
        <pc:spChg chg="mod">
          <ac:chgData name="Dursun Dashdamirov" userId="a8b9d0e1f239c75f" providerId="LiveId" clId="{E297FC27-9774-4AAE-B428-959B432F1B03}" dt="2026-03-31T16:52:34.929" v="517" actId="20577"/>
          <ac:spMkLst>
            <pc:docMk/>
            <pc:sldMk cId="487729179" sldId="367"/>
            <ac:spMk id="5" creationId="{87A619BF-A746-79AF-07DF-79FD8A86A248}"/>
          </ac:spMkLst>
        </pc:spChg>
      </pc:sldChg>
      <pc:sldChg chg="modSp mod">
        <pc:chgData name="Dursun Dashdamirov" userId="a8b9d0e1f239c75f" providerId="LiveId" clId="{E297FC27-9774-4AAE-B428-959B432F1B03}" dt="2026-03-31T16:52:37.567" v="519" actId="20577"/>
        <pc:sldMkLst>
          <pc:docMk/>
          <pc:sldMk cId="766910343" sldId="368"/>
        </pc:sldMkLst>
        <pc:spChg chg="mod">
          <ac:chgData name="Dursun Dashdamirov" userId="a8b9d0e1f239c75f" providerId="LiveId" clId="{E297FC27-9774-4AAE-B428-959B432F1B03}" dt="2026-03-31T16:52:37.567" v="519" actId="20577"/>
          <ac:spMkLst>
            <pc:docMk/>
            <pc:sldMk cId="766910343" sldId="368"/>
            <ac:spMk id="5" creationId="{87A619BF-A746-79AF-07DF-79FD8A86A248}"/>
          </ac:spMkLst>
        </pc:spChg>
      </pc:sldChg>
      <pc:sldChg chg="modSp mod">
        <pc:chgData name="Dursun Dashdamirov" userId="a8b9d0e1f239c75f" providerId="LiveId" clId="{E297FC27-9774-4AAE-B428-959B432F1B03}" dt="2026-03-31T16:52:29.250" v="513" actId="20577"/>
        <pc:sldMkLst>
          <pc:docMk/>
          <pc:sldMk cId="2571253994" sldId="370"/>
        </pc:sldMkLst>
        <pc:spChg chg="mod">
          <ac:chgData name="Dursun Dashdamirov" userId="a8b9d0e1f239c75f" providerId="LiveId" clId="{E297FC27-9774-4AAE-B428-959B432F1B03}" dt="2026-03-31T16:52:29.250" v="513" actId="20577"/>
          <ac:spMkLst>
            <pc:docMk/>
            <pc:sldMk cId="2571253994" sldId="370"/>
            <ac:spMk id="5" creationId="{87A619BF-A746-79AF-07DF-79FD8A86A2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19C00-9FBA-4F6B-B538-4FA197D07F4E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8FE3C-DA3D-45F5-8CC0-22CEBDF27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26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Calibration – adjusts predicted probabilities to match reality </a:t>
            </a:r>
            <a:br>
              <a:rPr lang="en-US" b="0" dirty="0"/>
            </a:br>
            <a:r>
              <a:rPr lang="en-US" b="0" dirty="0"/>
              <a:t>Conformal Prediction – builds prediction intervals with guaranteed coverage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9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006C-6359-8181-8296-91B08E62C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012E4-85A8-457B-1C1C-50FC54C7C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73ADB-7861-AAF7-607C-8128A8599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D0E11-42C4-9EA1-8C1E-34E08BEF9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86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1495-37DD-2889-BD90-0FC24E34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5BE8D-22FB-467D-321A-98351C6A6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B3D42-B498-571F-A626-CC0E453C8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C805-A2F6-E8D5-85A8-9A331DA6B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51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9E35-93EF-2F75-FE89-C2A286386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DB421-9A83-B599-B802-0A14921F7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E7CFA-03DA-9283-D551-4A6C7F273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5EE83-27C9-D0BA-ADB4-D78C033DE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75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931E-07A0-DEA9-052A-7674ECE92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1CB64-470D-3B81-3CCC-0009B33AC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824899-0343-5173-D625-2D3F32BC0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C459E-D11A-A149-913C-171CFE773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76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B9B7-54E3-B0E9-DBFB-F5B3E74B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4BD0D-CE36-597B-D6E0-4777E7FC0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E20FB-6A5C-DA2E-F0D0-D607B5AB3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89BD-464B-7A8A-7B67-B3E8EEA32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11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345A5-14B4-7214-8E6B-4F8EBF50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4D36B-4CC6-C032-5E63-E43076A79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4B269-F629-19CF-3EF8-83C329F68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73023-8723-DEAF-C0B5-AE49EA94CC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66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224D-760D-212D-1941-2A03A46F8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A572C-AFE4-DB51-C50D-62BBB5C81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77958-AA51-DE78-1275-360875D55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DF494-4E59-AF37-8B21-6BD609AA4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77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F512C-3B22-D649-94EB-9DD8899F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94824-D428-CA19-9417-7DFA8C800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6DA18-9011-F977-974E-8ED065069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86BC-1541-5FC5-2D56-F3CFA796F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80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EADB8-F5B2-C296-3758-522CED363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15618-3174-6A88-46ED-A0054E576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D0182-1AA2-F45D-CD53-4416AAC5F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6B88A-F1B0-7A98-EDA2-29C645BF6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5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7FE9-60DF-3382-2C50-3DA0ACCD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4E069-DC07-8F5B-E46E-C1D7AC383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A700C-9E0B-114D-A685-4D19BA07A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428C5-7956-DC1C-8BF9-C1C346CB9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91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C45A-783F-4F06-C7E2-51E515FAF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F01A9E-9E27-2BE5-AF43-C5646B9BA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F2A62-B5CB-37F7-9F25-2182733CB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9BBD2-91D4-06F0-1998-5F7EE844E6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11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CA666-0E3D-A40A-A1A5-A310A4D80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A71C8-56FD-5B49-D0DC-B5AE00A39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1B605-5D18-F21E-BBF5-3149112F5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Kernel PCA</a:t>
            </a:r>
            <a:r>
              <a:rPr lang="en-US" dirty="0"/>
              <a:t> — applies the kernel trick to capture nonlinear relationships (maps to higher-dimensional space implicitly, then does PCA there)</a:t>
            </a:r>
          </a:p>
          <a:p>
            <a:r>
              <a:rPr lang="en-US" dirty="0"/>
              <a:t>T-</a:t>
            </a:r>
            <a:r>
              <a:rPr lang="en-US" dirty="0" err="1"/>
              <a:t>sne</a:t>
            </a:r>
            <a:r>
              <a:rPr lang="en-US" dirty="0"/>
              <a:t> and </a:t>
            </a:r>
            <a:r>
              <a:rPr lang="en-US" dirty="0" err="1"/>
              <a:t>umap</a:t>
            </a:r>
            <a:r>
              <a:rPr lang="en-US" dirty="0"/>
              <a:t> is nonlinear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D70DF-FEA7-8C3F-B2B5-7C23F68AD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72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96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284D0-3536-3EA4-5E91-360949E0C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7B00F-8690-1C7D-0FDE-0968E8FC90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989A2-7266-D8B0-48FF-A1F4CD0A9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D5991-80EF-4ACD-E5CA-BE8899B5F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58FE3C-DA3D-45F5-8CC0-22CEBDF27EB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21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CFDDCC0-C2F7-A191-5240-17035D587B0D}"/>
              </a:ext>
            </a:extLst>
          </p:cNvPr>
          <p:cNvSpPr/>
          <p:nvPr userDrawn="1"/>
        </p:nvSpPr>
        <p:spPr>
          <a:xfrm>
            <a:off x="0" y="6216650"/>
            <a:ext cx="12192000" cy="64135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72DCC-119D-A3C8-E728-49F4DBC2A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917E8-D52D-D5D5-2EED-CF7CF0CE7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5569-F257-E64D-16A5-04BCF012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94367-41F4-414F-AB7F-290EED743211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562AD-2ACC-7847-737E-7778729D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F9146-28EA-CC82-F8E9-0E8325C3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89551"/>
      </p:ext>
    </p:extLst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0DE9-DEE7-6EB9-454F-6708DF88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D5561-17E0-7E95-48A7-E3017AAD0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D6E45-66CD-273A-C6B2-4040F4A2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B6953-3D4B-4A3B-8F23-170A06BDD6C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2D5FE-8F02-67B1-8596-9A438424D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03FE7-5CFD-D207-6CDA-5402C1F1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12547"/>
      </p:ext>
    </p:extLst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18A4-053A-FE92-4332-8C487D62B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E19DA-11BD-40DC-071E-4D59397CD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E4B5-2FAA-430C-3993-8E2C2713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45D48-2404-494F-81CA-4921D942931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DD6DC-8DE7-D278-D2E4-6237F85CE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F3AC5-2765-34F5-757A-A8097E58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4833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0DA2-AACA-A0E0-4F9D-B6A5E1EA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FD5C9-0580-9E38-37F3-A382C2AB6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84E0-6DDC-1FBA-AEE5-276F7C492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1D597-1693-5AAA-1AA6-1743FC7A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903C4-0EAB-4247-81C8-D17CEF09892E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C1AFD-A5F5-5DCB-D624-7B870ED9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C3E1F-A561-B275-4D10-63AC24BF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69512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54D6-B9AC-32EC-43F0-0E72B78A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6A2A2-243F-F6E7-D51D-18984002B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EAF43-F5D0-4EF7-2E2A-A0357CAA7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61F-2CE7-7AB8-F9E8-C78ACFC4F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3A646-9E0E-4EA9-FB00-D8D6BE9A9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0455E-A834-2C23-A494-02F711BAC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3F618-B734-4163-BB60-4CF21CEB5284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22DC15-29B6-9D60-AA1D-56844AD5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4DA9DE-EAEF-3B02-CA32-BEB5496A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233604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7034-FC2A-1A5E-8B2C-2DD27042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62018-D595-CFD6-8137-943A9530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15E3-7700-4AE1-98E1-F15284E3B50F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D4340-EBFF-D5FB-0EE4-B71ECC06D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20E2BD-BCF1-8FA5-7C27-0F989AE7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318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15912-B4F3-418B-5E3A-95F88A0D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287AC-EA3B-48E7-9C21-B33448B4E8D8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CE2F7-E148-F45A-4E58-A7267EC1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450A4-93B6-3588-CC27-57D7BE23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66739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4599-B30D-A243-C459-B62B9C53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D002-F8F0-8FE2-CCF8-8F5840BAA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309A3-3A27-B215-C3BF-F5B8C3199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4BC9A-6073-9BC8-C321-22A932E9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D6AD-4A71-403C-A1BE-EA3462420DD4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C4DA4-0595-F3A0-34EF-BD459C26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070C3-DEFE-732F-A851-D2F638E3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49670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753E-00A4-A8BE-20B3-7DAE5B7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F129F0-1CFB-E68B-0B38-545E2D210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452D1-41C7-9A1D-B787-A9CA70AC4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C35D3-BC5E-12F3-2B57-D16B1DC4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E82D-8A36-45F1-B616-CB43573CF797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CF8A1-4FE8-2A56-6BCA-38A81E03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581A2-B25A-3023-CF83-1F4B4D0F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53215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1824C-FA3B-C965-BF17-5B8C67FBF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21CA2-2381-CE6C-3A4F-D45360336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07687-3042-0CA3-282C-7838AD92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2E70-24A3-4763-897C-435C0A862A2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5B470-1792-EBF6-20EB-9D95BC4D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732E4-DCA2-CA63-7841-73F3FC08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07938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8898EB-0766-A249-55C0-C31BA63E0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BA09A-3F91-A8BE-F0F8-D5FC41E76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C1B2C-ABFA-11F2-7139-7C9EA6C2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91609-E6AA-419B-B542-278BD5056F2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9859D-03A1-2A0D-29B3-9215BC29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DE07-521A-56BF-7320-3E715D1B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38273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E58361-BDC9-8108-61F7-DF502110205A}"/>
              </a:ext>
            </a:extLst>
          </p:cNvPr>
          <p:cNvSpPr/>
          <p:nvPr userDrawn="1"/>
        </p:nvSpPr>
        <p:spPr>
          <a:xfrm>
            <a:off x="0" y="6216650"/>
            <a:ext cx="12192000" cy="64135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6BC61B-6985-C63E-57CB-107282C0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9B064-6633-E564-BCDB-3FD554344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97633-023F-E332-E0EA-5A241940F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BF538-A3AD-41FB-AC29-0B12DB93F61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A6DB0-54FF-BE03-9529-3DC4A0116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7C2DB-3B37-15D1-4368-430E25873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657CC-D746-414A-B402-BB97D2962C8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6CE475-9665-C2F5-F9E7-91D5482878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9" b="17512"/>
          <a:stretch>
            <a:fillRect/>
          </a:stretch>
        </p:blipFill>
        <p:spPr>
          <a:xfrm>
            <a:off x="10822776" y="0"/>
            <a:ext cx="1369224" cy="9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0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7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png"/><Relationship Id="rId10" Type="http://schemas.openxmlformats.org/officeDocument/2006/relationships/image" Target="../media/image280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haIOplEIG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3102E-F10F-1750-7D61-EA82DAB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D6026-F385-EBF7-CB6C-6F08328E6942}"/>
              </a:ext>
            </a:extLst>
          </p:cNvPr>
          <p:cNvSpPr txBox="1"/>
          <p:nvPr/>
        </p:nvSpPr>
        <p:spPr>
          <a:xfrm>
            <a:off x="533399" y="4069197"/>
            <a:ext cx="9448801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Machine Learning for Subsurface engineers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994A0-2106-6A73-A1F2-B386900A0C71}"/>
              </a:ext>
            </a:extLst>
          </p:cNvPr>
          <p:cNvSpPr txBox="1"/>
          <p:nvPr/>
        </p:nvSpPr>
        <p:spPr>
          <a:xfrm>
            <a:off x="533399" y="5175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Session V, </a:t>
            </a:r>
            <a:r>
              <a:rPr lang="en-US" b="1" cap="all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22</a:t>
            </a:r>
            <a:r>
              <a:rPr kumimoji="0" lang="en-US" sz="18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 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March 2026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E4CB7-29EB-CE75-9A0F-B37D47FCA3C9}"/>
              </a:ext>
            </a:extLst>
          </p:cNvPr>
          <p:cNvSpPr txBox="1"/>
          <p:nvPr/>
        </p:nvSpPr>
        <p:spPr>
          <a:xfrm>
            <a:off x="533399" y="4677918"/>
            <a:ext cx="9028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Dursun Dashdamirov, Nadir Zeynalli,</a:t>
            </a:r>
            <a:r>
              <a:rPr lang="en-US" b="1" cap="all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 Vugar Dunyamaliyev 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2B75EE-78AE-7FF5-F1B0-8A89582FA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08" r="8484" b="22822"/>
          <a:stretch>
            <a:fillRect/>
          </a:stretch>
        </p:blipFill>
        <p:spPr>
          <a:xfrm>
            <a:off x="2719228" y="1045011"/>
            <a:ext cx="6199407" cy="2479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9635287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598E-3966-7163-CB8D-E287133A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0DADCC3-0DFC-6A6E-3959-75745DB71D10}"/>
              </a:ext>
            </a:extLst>
          </p:cNvPr>
          <p:cNvSpPr txBox="1">
            <a:spLocks/>
          </p:cNvSpPr>
          <p:nvPr/>
        </p:nvSpPr>
        <p:spPr>
          <a:xfrm>
            <a:off x="224845" y="172997"/>
            <a:ext cx="10878539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Machine Learning for Subsurface engineers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A4E21-D0B2-81E6-432D-8F686C9E5927}"/>
              </a:ext>
            </a:extLst>
          </p:cNvPr>
          <p:cNvSpPr txBox="1"/>
          <p:nvPr/>
        </p:nvSpPr>
        <p:spPr>
          <a:xfrm>
            <a:off x="301045" y="2420632"/>
            <a:ext cx="6118446" cy="3005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prstClr val="black"/>
                </a:solidFill>
                <a:latin typeface="Avenir Next LT Pro Light"/>
              </a:rPr>
              <a:t>Topics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Predictive Modeling with subsurface data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Supervised Learning (Regression)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3.   </a:t>
            </a: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Supervised Learning (Classification)</a:t>
            </a:r>
          </a:p>
          <a:p>
            <a:pPr marL="342900" indent="-342900">
              <a:lnSpc>
                <a:spcPct val="150000"/>
              </a:lnSpc>
              <a:buAutoNum type="arabicPeriod" startAt="4"/>
            </a:pP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Unsupervised learning</a:t>
            </a:r>
          </a:p>
          <a:p>
            <a:pPr marL="342900" indent="-342900">
              <a:lnSpc>
                <a:spcPct val="150000"/>
              </a:lnSpc>
              <a:buAutoNum type="arabicPeriod" startAt="4"/>
            </a:pPr>
            <a:r>
              <a:rPr lang="en-US" sz="1600" dirty="0">
                <a:solidFill>
                  <a:prstClr val="black"/>
                </a:solidFill>
                <a:highlight>
                  <a:srgbClr val="00FF00"/>
                </a:highlight>
                <a:latin typeface="Avenir Next LT Pro Light"/>
              </a:rPr>
              <a:t>Neural Networks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6.   </a:t>
            </a:r>
            <a:r>
              <a:rPr lang="en-US" sz="1600" dirty="0">
                <a:solidFill>
                  <a:prstClr val="black"/>
                </a:solidFill>
                <a:highlight>
                  <a:srgbClr val="FFFF00"/>
                </a:highlight>
                <a:latin typeface="Avenir Next LT Pro Light"/>
              </a:rPr>
              <a:t>Generalization, Uncertainty Quantification, Explainability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7.   Capstone Project</a:t>
            </a:r>
            <a:endParaRPr lang="en-ZA" sz="1600" dirty="0">
              <a:solidFill>
                <a:prstClr val="black"/>
              </a:solidFill>
              <a:latin typeface="Avenir Next LT Pro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03BD0-F0E7-3CE3-D0AF-6BEE4738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D1FEC-F4D0-9530-E931-44E89F4B5F63}"/>
              </a:ext>
            </a:extLst>
          </p:cNvPr>
          <p:cNvSpPr txBox="1"/>
          <p:nvPr/>
        </p:nvSpPr>
        <p:spPr>
          <a:xfrm>
            <a:off x="224845" y="973649"/>
            <a:ext cx="112430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This program is dedicated to applications of Machine Learning on various subsurface disciplines, including geology, geophysics, drilling, petroleum, and reservoir engineering. 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7E90B4-7D78-93C2-C000-30F6168D2692}"/>
              </a:ext>
            </a:extLst>
          </p:cNvPr>
          <p:cNvSpPr txBox="1"/>
          <p:nvPr/>
        </p:nvSpPr>
        <p:spPr>
          <a:xfrm>
            <a:off x="6419491" y="2420632"/>
            <a:ext cx="6096000" cy="1528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prstClr val="black"/>
                </a:solidFill>
                <a:latin typeface="Avenir Next LT Pro Light"/>
              </a:rPr>
              <a:t>Format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Online, with hands-on math/programming exercises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6 lectures in 6 weeks + 1 lecture for presentations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15 February - 22 March (Sundays, 6-8 pm Baku time)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51181-1A07-2610-CB90-2509E0133489}"/>
              </a:ext>
            </a:extLst>
          </p:cNvPr>
          <p:cNvSpPr txBox="1"/>
          <p:nvPr/>
        </p:nvSpPr>
        <p:spPr>
          <a:xfrm>
            <a:off x="301044" y="5577474"/>
            <a:ext cx="6906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prstClr val="black"/>
                </a:solidFill>
                <a:latin typeface="Avenir Next LT Pro Light"/>
              </a:rPr>
              <a:t>Today, we’ll introduce Capstone Project at the end of the class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50118650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B9FF1F8-D2D2-7E02-AB3C-738D4EEA725C}"/>
              </a:ext>
            </a:extLst>
          </p:cNvPr>
          <p:cNvSpPr txBox="1">
            <a:spLocks/>
          </p:cNvSpPr>
          <p:nvPr/>
        </p:nvSpPr>
        <p:spPr>
          <a:xfrm>
            <a:off x="322611" y="2558998"/>
            <a:ext cx="10878539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6. Model Generalization &amp; communication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F754C-22B0-05C5-1953-AD492AC5C9A0}"/>
              </a:ext>
            </a:extLst>
          </p:cNvPr>
          <p:cNvSpPr txBox="1"/>
          <p:nvPr/>
        </p:nvSpPr>
        <p:spPr>
          <a:xfrm>
            <a:off x="322611" y="3310233"/>
            <a:ext cx="7056583" cy="42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Nadir Zeynalli, Dursun Dashdamirov</a:t>
            </a:r>
            <a:endParaRPr lang="en-ZA" sz="1600" dirty="0">
              <a:solidFill>
                <a:prstClr val="black"/>
              </a:solidFill>
              <a:latin typeface="Avenir Next LT Pro Ligh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2FB9B-B737-3E34-9DB8-ABBA178B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994E6-9ED9-A6B1-97BF-61D3C92671E8}"/>
              </a:ext>
            </a:extLst>
          </p:cNvPr>
          <p:cNvSpPr txBox="1"/>
          <p:nvPr/>
        </p:nvSpPr>
        <p:spPr>
          <a:xfrm>
            <a:off x="322611" y="4262850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6.</a:t>
            </a: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1</a:t>
            </a: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 </a:t>
            </a: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uncertainty quantification</a:t>
            </a:r>
            <a:endParaRPr kumimoji="0" lang="en-US" sz="18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DCE4B-C705-75D6-126D-5D18748F630D}"/>
              </a:ext>
            </a:extLst>
          </p:cNvPr>
          <p:cNvSpPr txBox="1"/>
          <p:nvPr/>
        </p:nvSpPr>
        <p:spPr>
          <a:xfrm>
            <a:off x="322611" y="4726244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6.2 model generalization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2E81A3-2578-4F4D-0CC2-D114C98E2ED9}"/>
              </a:ext>
            </a:extLst>
          </p:cNvPr>
          <p:cNvSpPr txBox="1"/>
          <p:nvPr/>
        </p:nvSpPr>
        <p:spPr>
          <a:xfrm>
            <a:off x="322611" y="5169318"/>
            <a:ext cx="60960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6.</a:t>
            </a:r>
            <a:r>
              <a:rPr lang="en-US" b="1" cap="all" dirty="0">
                <a:solidFill>
                  <a:sysClr val="windowText" lastClr="000000"/>
                </a:solidFill>
                <a:latin typeface="Posterama"/>
                <a:ea typeface="+mj-ea"/>
                <a:cs typeface="+mj-cs"/>
              </a:rPr>
              <a:t>3 explainability</a:t>
            </a:r>
            <a:endParaRPr kumimoji="0" lang="en-US" sz="18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4424903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23ED-9B37-02C8-5BD7-E075D1B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619BF-A746-79AF-07DF-79FD8A86A248}"/>
              </a:ext>
            </a:extLst>
          </p:cNvPr>
          <p:cNvSpPr txBox="1">
            <a:spLocks/>
          </p:cNvSpPr>
          <p:nvPr/>
        </p:nvSpPr>
        <p:spPr>
          <a:xfrm>
            <a:off x="276658" y="99249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ysClr val="windowText" lastClr="000000"/>
                </a:solidFill>
                <a:latin typeface="Avenir Next LT Pro" panose="020B0504020202020204" pitchFamily="34" charset="0"/>
              </a:rPr>
              <a:t>6</a:t>
            </a: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.1 Uncertainty quantification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7664-54D7-94B0-01C0-EF3A1EAC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4</a:t>
            </a:fld>
            <a:endParaRPr lang="en-US"/>
          </a:p>
        </p:txBody>
      </p:sp>
      <p:pic>
        <p:nvPicPr>
          <p:cNvPr id="11" name="Picture 2" descr="Engineer - Free social icons">
            <a:extLst>
              <a:ext uri="{FF2B5EF4-FFF2-40B4-BE49-F238E27FC236}">
                <a16:creationId xmlns:a16="http://schemas.microsoft.com/office/drawing/2014/main" id="{C1F306D8-4818-487E-9396-4D6EF53D6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56" y="1763985"/>
            <a:ext cx="891518" cy="89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02D5B4-75F1-40CA-B12A-935B72958A28}"/>
              </a:ext>
            </a:extLst>
          </p:cNvPr>
          <p:cNvSpPr txBox="1"/>
          <p:nvPr/>
        </p:nvSpPr>
        <p:spPr>
          <a:xfrm>
            <a:off x="2383670" y="1001671"/>
            <a:ext cx="34883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i="1" dirty="0"/>
              <a:t>Q: Is there sand risk for this well?</a:t>
            </a:r>
          </a:p>
        </p:txBody>
      </p:sp>
      <p:pic>
        <p:nvPicPr>
          <p:cNvPr id="13" name="Picture 2" descr="Engineer - Free social icons">
            <a:extLst>
              <a:ext uri="{FF2B5EF4-FFF2-40B4-BE49-F238E27FC236}">
                <a16:creationId xmlns:a16="http://schemas.microsoft.com/office/drawing/2014/main" id="{678D7EC4-E6FD-4A4A-BB24-834356130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56" y="3078559"/>
            <a:ext cx="891518" cy="89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ngineer - Free social icons">
            <a:extLst>
              <a:ext uri="{FF2B5EF4-FFF2-40B4-BE49-F238E27FC236}">
                <a16:creationId xmlns:a16="http://schemas.microsoft.com/office/drawing/2014/main" id="{6969CB59-6F09-43FD-9867-300822789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56" y="4295230"/>
            <a:ext cx="891518" cy="89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6EF987-3705-4273-9561-241C4EBA0246}"/>
              </a:ext>
            </a:extLst>
          </p:cNvPr>
          <p:cNvSpPr txBox="1"/>
          <p:nvPr/>
        </p:nvSpPr>
        <p:spPr>
          <a:xfrm>
            <a:off x="1691904" y="2039551"/>
            <a:ext cx="1192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Engineer 1:</a:t>
            </a:r>
          </a:p>
          <a:p>
            <a:r>
              <a:rPr lang="en-US" sz="1400" dirty="0"/>
              <a:t>Yes, definitely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B7EB91-1998-45C6-A34E-8C2D7E7CF411}"/>
              </a:ext>
            </a:extLst>
          </p:cNvPr>
          <p:cNvSpPr txBox="1"/>
          <p:nvPr/>
        </p:nvSpPr>
        <p:spPr>
          <a:xfrm>
            <a:off x="1691904" y="3327243"/>
            <a:ext cx="2559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Engineer 2:</a:t>
            </a:r>
          </a:p>
          <a:p>
            <a:r>
              <a:rPr lang="en-US" sz="1400" dirty="0"/>
              <a:t>Not sure, but most probably 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549FA9-B139-4B2A-A665-F61D5E0F3093}"/>
              </a:ext>
            </a:extLst>
          </p:cNvPr>
          <p:cNvSpPr txBox="1"/>
          <p:nvPr/>
        </p:nvSpPr>
        <p:spPr>
          <a:xfrm>
            <a:off x="1691904" y="4663528"/>
            <a:ext cx="2354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Engineer 3:</a:t>
            </a:r>
          </a:p>
          <a:p>
            <a:r>
              <a:rPr lang="en-US" sz="1400" dirty="0"/>
              <a:t>Cant say, I need more data</a:t>
            </a:r>
          </a:p>
        </p:txBody>
      </p:sp>
      <p:pic>
        <p:nvPicPr>
          <p:cNvPr id="1026" name="Picture 2" descr="Machine Learning Icon Images – Browse 405,957 Stock Photos, Vectors, and  Video | Adobe Stock">
            <a:extLst>
              <a:ext uri="{FF2B5EF4-FFF2-40B4-BE49-F238E27FC236}">
                <a16:creationId xmlns:a16="http://schemas.microsoft.com/office/drawing/2014/main" id="{54670336-8FB4-4FC7-81C5-DFB274B17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256" y="1959379"/>
            <a:ext cx="696124" cy="6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84DE551-E3A2-4C7F-95D8-65B8CDEB0D34}"/>
              </a:ext>
            </a:extLst>
          </p:cNvPr>
          <p:cNvSpPr txBox="1"/>
          <p:nvPr/>
        </p:nvSpPr>
        <p:spPr>
          <a:xfrm>
            <a:off x="5618198" y="2018873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ML model:</a:t>
            </a:r>
          </a:p>
          <a:p>
            <a:r>
              <a:rPr lang="en-US" sz="1400" dirty="0"/>
              <a:t>Yes</a:t>
            </a:r>
          </a:p>
        </p:txBody>
      </p:sp>
      <p:pic>
        <p:nvPicPr>
          <p:cNvPr id="21" name="Picture 2" descr="Machine Learning Icon Images – Browse 405,957 Stock Photos, Vectors, and  Video | Adobe Stock">
            <a:extLst>
              <a:ext uri="{FF2B5EF4-FFF2-40B4-BE49-F238E27FC236}">
                <a16:creationId xmlns:a16="http://schemas.microsoft.com/office/drawing/2014/main" id="{A41705F1-D88D-412B-A99D-0C5D5056A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256" y="3096171"/>
            <a:ext cx="696124" cy="6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C81E2B1-F85F-42F3-B4D0-7F983C2D6C62}"/>
              </a:ext>
            </a:extLst>
          </p:cNvPr>
          <p:cNvSpPr txBox="1"/>
          <p:nvPr/>
        </p:nvSpPr>
        <p:spPr>
          <a:xfrm>
            <a:off x="5618198" y="3155665"/>
            <a:ext cx="97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ML model:</a:t>
            </a:r>
          </a:p>
          <a:p>
            <a:r>
              <a:rPr lang="en-US" sz="1400" dirty="0"/>
              <a:t>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1F6E7C-E33C-4C1F-9802-04E7379AE10A}"/>
              </a:ext>
            </a:extLst>
          </p:cNvPr>
          <p:cNvSpPr txBox="1"/>
          <p:nvPr/>
        </p:nvSpPr>
        <p:spPr>
          <a:xfrm>
            <a:off x="7126335" y="2604160"/>
            <a:ext cx="45486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Humans naturally express uncertainty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“probably”, “maybe”, “not sure”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give confident point predictions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overconfident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even when wrong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real-world decisions, confidence matters as much as prediction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need to know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much to trust the output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817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23ED-9B37-02C8-5BD7-E075D1B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619BF-A746-79AF-07DF-79FD8A86A248}"/>
              </a:ext>
            </a:extLst>
          </p:cNvPr>
          <p:cNvSpPr txBox="1">
            <a:spLocks/>
          </p:cNvSpPr>
          <p:nvPr/>
        </p:nvSpPr>
        <p:spPr>
          <a:xfrm>
            <a:off x="276658" y="99249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ysClr val="windowText" lastClr="000000"/>
                </a:solidFill>
                <a:latin typeface="Avenir Next LT Pro" panose="020B0504020202020204" pitchFamily="34" charset="0"/>
              </a:rPr>
              <a:t>6</a:t>
            </a: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.1 </a:t>
            </a:r>
            <a:r>
              <a:rPr kumimoji="0" lang="az-Latn-AZ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Types of uncerta</a:t>
            </a:r>
            <a:r>
              <a:rPr kumimoji="0" lang="en-US" sz="2800" b="1" i="0" u="none" strike="noStrike" kern="1200" cap="all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inty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venir Next LT Pro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7664-54D7-94B0-01C0-EF3A1EAC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5</a:t>
            </a:fld>
            <a:endParaRPr lang="en-US"/>
          </a:p>
        </p:txBody>
      </p:sp>
      <p:pic>
        <p:nvPicPr>
          <p:cNvPr id="2050" name="Picture 2" descr="Uncertainty Quantification in Machine Learning | by Sudeep Chavare | Medium">
            <a:extLst>
              <a:ext uri="{FF2B5EF4-FFF2-40B4-BE49-F238E27FC236}">
                <a16:creationId xmlns:a16="http://schemas.microsoft.com/office/drawing/2014/main" id="{9931DCE2-BB36-4A1E-B684-C859167E57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5"/>
          <a:stretch/>
        </p:blipFill>
        <p:spPr bwMode="auto">
          <a:xfrm>
            <a:off x="1245183" y="865684"/>
            <a:ext cx="3505199" cy="235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3B0E8A6-692E-4DD8-A544-198234DED4FF}"/>
              </a:ext>
            </a:extLst>
          </p:cNvPr>
          <p:cNvSpPr txBox="1"/>
          <p:nvPr/>
        </p:nvSpPr>
        <p:spPr>
          <a:xfrm>
            <a:off x="5914097" y="1885966"/>
            <a:ext cx="431800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Aleatoric Uncertainty – Data uncertainty: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Comes from noise in the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Cannot be reduced, even with more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 </a:t>
            </a:r>
            <a:endParaRPr lang="az-Latn-AZ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az-Latn-AZ" sz="1400" dirty="0"/>
              <a:t>Same KH</a:t>
            </a:r>
            <a:r>
              <a:rPr lang="en-US" sz="1400" dirty="0"/>
              <a:t>, different productivity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529C8C-7F14-4D7F-8276-C7F31C6E56EE}"/>
              </a:ext>
            </a:extLst>
          </p:cNvPr>
          <p:cNvSpPr txBox="1"/>
          <p:nvPr/>
        </p:nvSpPr>
        <p:spPr>
          <a:xfrm>
            <a:off x="5914098" y="3448863"/>
            <a:ext cx="4318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Epistemic Uncertainty – Model uncertainty: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Comes from lack of knowledge (limited data)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be reduced with more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High in regions where model has not seen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26AC33-F87A-4BBB-B493-4A206DB655EB}"/>
              </a:ext>
            </a:extLst>
          </p:cNvPr>
          <p:cNvSpPr txBox="1"/>
          <p:nvPr/>
        </p:nvSpPr>
        <p:spPr>
          <a:xfrm>
            <a:off x="7215061" y="5310916"/>
            <a:ext cx="43886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b="1" dirty="0"/>
              <a:t>Intuition: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Aleatoric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Reservoir is inherently variable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Epistemic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We don’t know the reservoir well enough yet </a:t>
            </a:r>
          </a:p>
        </p:txBody>
      </p:sp>
      <p:pic>
        <p:nvPicPr>
          <p:cNvPr id="2053" name="Picture 5" descr="Reliable uncertainty estimates for neural network predictions - Martin  Krasser">
            <a:extLst>
              <a:ext uri="{FF2B5EF4-FFF2-40B4-BE49-F238E27FC236}">
                <a16:creationId xmlns:a16="http://schemas.microsoft.com/office/drawing/2014/main" id="{E9FCAF9D-B943-48B9-B045-35C7D9D35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29" y="3221462"/>
            <a:ext cx="4138709" cy="282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25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23ED-9B37-02C8-5BD7-E075D1B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619BF-A746-79AF-07DF-79FD8A86A248}"/>
              </a:ext>
            </a:extLst>
          </p:cNvPr>
          <p:cNvSpPr txBox="1">
            <a:spLocks/>
          </p:cNvSpPr>
          <p:nvPr/>
        </p:nvSpPr>
        <p:spPr>
          <a:xfrm>
            <a:off x="276658" y="99249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5.1 </a:t>
            </a:r>
            <a:r>
              <a:rPr lang="en-US" sz="2800" dirty="0">
                <a:solidFill>
                  <a:sysClr val="windowText" lastClr="000000"/>
                </a:solidFill>
                <a:latin typeface="Avenir Next LT Pro" panose="020B0504020202020204" pitchFamily="34" charset="0"/>
              </a:rPr>
              <a:t>measuring uncertainty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venir Next LT Pro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7664-54D7-94B0-01C0-EF3A1EAC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6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4FE2BC-D604-4F8E-A5D5-6D2592638300}"/>
              </a:ext>
            </a:extLst>
          </p:cNvPr>
          <p:cNvSpPr/>
          <p:nvPr/>
        </p:nvSpPr>
        <p:spPr>
          <a:xfrm>
            <a:off x="5293284" y="978021"/>
            <a:ext cx="1605431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Measuring uncertainty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E64CD7-DE9D-47B7-9E1C-753D360D2A52}"/>
              </a:ext>
            </a:extLst>
          </p:cNvPr>
          <p:cNvSpPr/>
          <p:nvPr/>
        </p:nvSpPr>
        <p:spPr>
          <a:xfrm>
            <a:off x="2379250" y="2089651"/>
            <a:ext cx="1805396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Intrinsic methods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F753EE-53C9-4F60-950B-912FED364B84}"/>
              </a:ext>
            </a:extLst>
          </p:cNvPr>
          <p:cNvSpPr/>
          <p:nvPr/>
        </p:nvSpPr>
        <p:spPr>
          <a:xfrm>
            <a:off x="8235450" y="2089651"/>
            <a:ext cx="1805396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Post-hoc methods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76BF33-66BE-4C50-84BA-94283E6F7C65}"/>
              </a:ext>
            </a:extLst>
          </p:cNvPr>
          <p:cNvSpPr/>
          <p:nvPr/>
        </p:nvSpPr>
        <p:spPr>
          <a:xfrm>
            <a:off x="406882" y="3611057"/>
            <a:ext cx="1610662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Bootstapping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E8754E-1674-46EB-9EB4-1362A0D0548A}"/>
              </a:ext>
            </a:extLst>
          </p:cNvPr>
          <p:cNvSpPr/>
          <p:nvPr/>
        </p:nvSpPr>
        <p:spPr>
          <a:xfrm>
            <a:off x="2485084" y="3611057"/>
            <a:ext cx="1610662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Quantile regression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BA0C36-E980-4948-A682-0C9BA4A5BF55}"/>
              </a:ext>
            </a:extLst>
          </p:cNvPr>
          <p:cNvSpPr/>
          <p:nvPr/>
        </p:nvSpPr>
        <p:spPr>
          <a:xfrm>
            <a:off x="4473380" y="3611057"/>
            <a:ext cx="1610662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Bayesian approaches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BB0AF9-DA12-4C46-8EB1-F9894955A072}"/>
              </a:ext>
            </a:extLst>
          </p:cNvPr>
          <p:cNvSpPr/>
          <p:nvPr/>
        </p:nvSpPr>
        <p:spPr>
          <a:xfrm>
            <a:off x="7202266" y="3611057"/>
            <a:ext cx="1610662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Calibration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18334EF-3912-4E5A-AF2E-01049DA645CD}"/>
              </a:ext>
            </a:extLst>
          </p:cNvPr>
          <p:cNvSpPr/>
          <p:nvPr/>
        </p:nvSpPr>
        <p:spPr>
          <a:xfrm>
            <a:off x="9618259" y="3611057"/>
            <a:ext cx="1610662" cy="878772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Conformal Prediction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11A93485-0673-4D19-8235-7BD69B55578F}"/>
              </a:ext>
            </a:extLst>
          </p:cNvPr>
          <p:cNvCxnSpPr>
            <a:stCxn id="2" idx="1"/>
            <a:endCxn id="10" idx="0"/>
          </p:cNvCxnSpPr>
          <p:nvPr/>
        </p:nvCxnSpPr>
        <p:spPr>
          <a:xfrm rot="10800000" flipV="1">
            <a:off x="3281948" y="1417407"/>
            <a:ext cx="2011336" cy="6722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CA36440-666E-42F1-A019-D3B49AD3CD1A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1925764" y="2254873"/>
            <a:ext cx="642634" cy="206973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77CB033-D459-4F23-81ED-A70BBF024009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2964864" y="3285506"/>
            <a:ext cx="642634" cy="846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AD6E890-49A2-4C42-ADAA-0E52354CDDD6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16200000" flipH="1">
            <a:off x="3959012" y="2291358"/>
            <a:ext cx="642634" cy="19967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5CC39E2-9FD6-4409-AC85-8A83024BC21F}"/>
              </a:ext>
            </a:extLst>
          </p:cNvPr>
          <p:cNvCxnSpPr>
            <a:cxnSpLocks/>
            <a:stCxn id="2" idx="3"/>
            <a:endCxn id="11" idx="0"/>
          </p:cNvCxnSpPr>
          <p:nvPr/>
        </p:nvCxnSpPr>
        <p:spPr>
          <a:xfrm>
            <a:off x="6898715" y="1417407"/>
            <a:ext cx="2239433" cy="6722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1AA20D2-07EB-4DBE-8139-E8EFFDE55362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8251556" y="2724465"/>
            <a:ext cx="642634" cy="11305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9294A1E-0996-4F31-8E49-7AF321B8E62D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16200000" flipH="1">
            <a:off x="9459552" y="2647019"/>
            <a:ext cx="642634" cy="128544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9219580-5F5C-4FC7-97B1-2504555B22C7}"/>
              </a:ext>
            </a:extLst>
          </p:cNvPr>
          <p:cNvSpPr txBox="1"/>
          <p:nvPr/>
        </p:nvSpPr>
        <p:spPr>
          <a:xfrm>
            <a:off x="656393" y="5006168"/>
            <a:ext cx="45167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Intrinsic Methods (Built-in Uncertainty):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Uncertainty is learned </a:t>
            </a:r>
            <a:r>
              <a:rPr lang="en-US" sz="1400" b="1" dirty="0"/>
              <a:t>directly during model training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Model outputs </a:t>
            </a:r>
            <a:r>
              <a:rPr lang="en-US" sz="1400" b="1" dirty="0"/>
              <a:t>prediction + uncertainty together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Requires modifying or choosing specific algorithms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8D22A8-55B9-4B17-BC9C-FD0385D3A5E8}"/>
              </a:ext>
            </a:extLst>
          </p:cNvPr>
          <p:cNvSpPr txBox="1"/>
          <p:nvPr/>
        </p:nvSpPr>
        <p:spPr>
          <a:xfrm>
            <a:off x="7202266" y="5006167"/>
            <a:ext cx="46460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Post-hoc Methods (After Training):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Applied </a:t>
            </a:r>
            <a:r>
              <a:rPr lang="en-US" sz="1400" b="1" dirty="0"/>
              <a:t>after the model is trained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model predictions to </a:t>
            </a:r>
            <a:r>
              <a:rPr lang="en-US" sz="1400" b="1" dirty="0"/>
              <a:t>estimate or adjust uncertainty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 not require changing the original model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77D01A0-0047-4602-B0F0-0D40716D0D70}"/>
              </a:ext>
            </a:extLst>
          </p:cNvPr>
          <p:cNvSpPr txBox="1"/>
          <p:nvPr/>
        </p:nvSpPr>
        <p:spPr>
          <a:xfrm>
            <a:off x="656393" y="6396106"/>
            <a:ext cx="74854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https://christophm.github.io/interpretable-ml-book/overview.html</a:t>
            </a:r>
          </a:p>
        </p:txBody>
      </p:sp>
    </p:spTree>
    <p:extLst>
      <p:ext uri="{BB962C8B-B14F-4D97-AF65-F5344CB8AC3E}">
        <p14:creationId xmlns:p14="http://schemas.microsoft.com/office/powerpoint/2010/main" val="393894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23ED-9B37-02C8-5BD7-E075D1B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619BF-A746-79AF-07DF-79FD8A86A248}"/>
              </a:ext>
            </a:extLst>
          </p:cNvPr>
          <p:cNvSpPr txBox="1">
            <a:spLocks/>
          </p:cNvSpPr>
          <p:nvPr/>
        </p:nvSpPr>
        <p:spPr>
          <a:xfrm>
            <a:off x="276658" y="99249"/>
            <a:ext cx="932454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ysClr val="windowText" lastClr="000000"/>
                </a:solidFill>
                <a:latin typeface="Avenir Next LT Pro" panose="020B0504020202020204" pitchFamily="34" charset="0"/>
              </a:rPr>
              <a:t>6</a:t>
            </a: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.1 bootstrapping (monte </a:t>
            </a:r>
            <a:r>
              <a:rPr kumimoji="0" lang="en-US" sz="2800" b="1" i="0" u="none" strike="noStrike" kern="1200" cap="all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carlo</a:t>
            </a: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 uncertainty)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7664-54D7-94B0-01C0-EF3A1EAC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7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50B80-8751-6FBE-D28B-6045571FC760}"/>
              </a:ext>
            </a:extLst>
          </p:cNvPr>
          <p:cNvSpPr txBox="1"/>
          <p:nvPr/>
        </p:nvSpPr>
        <p:spPr>
          <a:xfrm>
            <a:off x="389468" y="3259723"/>
            <a:ext cx="430106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venir Next LT Pro" panose="020B0504020202020204" pitchFamily="34" charset="0"/>
              </a:rPr>
              <a:t>Bootstrapping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LT Pro" panose="020B0504020202020204" pitchFamily="34" charset="0"/>
              </a:rPr>
              <a:t>Each bootstrap dataset has the same size as the original dataset, but samples may repeat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0"/>
              </a:rPr>
              <a:t>Some points appear multiple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venir Next LT Pro" panose="020B0504020202020204" pitchFamily="34" charset="0"/>
              </a:rPr>
              <a:t>Some points may disappear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A7AFEE-B2A4-4ADB-B0AF-B61EFD3B4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019026"/>
              </p:ext>
            </p:extLst>
          </p:nvPr>
        </p:nvGraphicFramePr>
        <p:xfrm>
          <a:off x="389468" y="1142947"/>
          <a:ext cx="3945466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48265">
                  <a:extLst>
                    <a:ext uri="{9D8B030D-6E8A-4147-A177-3AD203B41FA5}">
                      <a16:colId xmlns:a16="http://schemas.microsoft.com/office/drawing/2014/main" val="669165843"/>
                    </a:ext>
                  </a:extLst>
                </a:gridCol>
                <a:gridCol w="1126068">
                  <a:extLst>
                    <a:ext uri="{9D8B030D-6E8A-4147-A177-3AD203B41FA5}">
                      <a16:colId xmlns:a16="http://schemas.microsoft.com/office/drawing/2014/main" val="448614573"/>
                    </a:ext>
                  </a:extLst>
                </a:gridCol>
                <a:gridCol w="1871133">
                  <a:extLst>
                    <a:ext uri="{9D8B030D-6E8A-4147-A177-3AD203B41FA5}">
                      <a16:colId xmlns:a16="http://schemas.microsoft.com/office/drawing/2014/main" val="617323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Sample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Time (days)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Production (STB/day)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664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380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658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870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646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2269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4576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1FAA44-AE28-4D40-B2B5-5BDD046D6FFC}"/>
              </a:ext>
            </a:extLst>
          </p:cNvPr>
          <p:cNvSpPr txBox="1"/>
          <p:nvPr/>
        </p:nvSpPr>
        <p:spPr>
          <a:xfrm>
            <a:off x="5757332" y="1585142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Dataset 1</a:t>
            </a:r>
          </a:p>
          <a:p>
            <a:pPr algn="ctr"/>
            <a:r>
              <a:rPr lang="en-US" sz="1400" dirty="0"/>
              <a:t>[1, 2, 2, 4, 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E401F-F5B8-499B-9110-07C92E6D4CBC}"/>
              </a:ext>
            </a:extLst>
          </p:cNvPr>
          <p:cNvSpPr txBox="1"/>
          <p:nvPr/>
        </p:nvSpPr>
        <p:spPr>
          <a:xfrm>
            <a:off x="7162798" y="1569012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Dataset 2</a:t>
            </a:r>
          </a:p>
          <a:p>
            <a:pPr algn="ctr"/>
            <a:r>
              <a:rPr lang="en-US" sz="1400" dirty="0"/>
              <a:t>[2, 3, 3, 4, 5]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739F8-8A6F-4541-A9D6-34D893CE42C8}"/>
              </a:ext>
            </a:extLst>
          </p:cNvPr>
          <p:cNvSpPr txBox="1"/>
          <p:nvPr/>
        </p:nvSpPr>
        <p:spPr>
          <a:xfrm>
            <a:off x="8568264" y="1569012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Dataset 3</a:t>
            </a:r>
          </a:p>
          <a:p>
            <a:pPr algn="ctr"/>
            <a:r>
              <a:rPr lang="en-US" sz="1400" dirty="0"/>
              <a:t>[1, 1, 2, 3, 5]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8CBD6-E78F-4880-AC25-C5B64647DF93}"/>
              </a:ext>
            </a:extLst>
          </p:cNvPr>
          <p:cNvSpPr txBox="1"/>
          <p:nvPr/>
        </p:nvSpPr>
        <p:spPr>
          <a:xfrm>
            <a:off x="9973730" y="1569012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Dataset 4</a:t>
            </a:r>
          </a:p>
          <a:p>
            <a:pPr algn="ctr"/>
            <a:r>
              <a:rPr lang="en-US" sz="1400" dirty="0"/>
              <a:t>[1, 3, 4, 4, 5]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A57F6-6B45-444E-B7EF-489268F762EB}"/>
              </a:ext>
            </a:extLst>
          </p:cNvPr>
          <p:cNvSpPr txBox="1"/>
          <p:nvPr/>
        </p:nvSpPr>
        <p:spPr>
          <a:xfrm>
            <a:off x="5757333" y="2431232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Prediction 1</a:t>
            </a:r>
          </a:p>
          <a:p>
            <a:pPr algn="ctr"/>
            <a:r>
              <a:rPr lang="en-US" sz="1400" dirty="0"/>
              <a:t>720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89BEF-F547-4CE4-90F3-8B0D88511FCE}"/>
              </a:ext>
            </a:extLst>
          </p:cNvPr>
          <p:cNvSpPr txBox="1"/>
          <p:nvPr/>
        </p:nvSpPr>
        <p:spPr>
          <a:xfrm>
            <a:off x="7162799" y="2415102"/>
            <a:ext cx="1080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Prediction 2</a:t>
            </a:r>
          </a:p>
          <a:p>
            <a:pPr algn="ctr"/>
            <a:r>
              <a:rPr lang="en-US" sz="1400" dirty="0"/>
              <a:t>690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B756A1-FE6D-4523-AD12-138F89DF4268}"/>
              </a:ext>
            </a:extLst>
          </p:cNvPr>
          <p:cNvSpPr txBox="1"/>
          <p:nvPr/>
        </p:nvSpPr>
        <p:spPr>
          <a:xfrm>
            <a:off x="8568265" y="2415102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Prediction 3</a:t>
            </a:r>
          </a:p>
          <a:p>
            <a:pPr algn="ctr"/>
            <a:r>
              <a:rPr lang="en-US" sz="1400" dirty="0"/>
              <a:t>760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5D9A13-7C0C-4EAD-97E7-D0652EE4B425}"/>
              </a:ext>
            </a:extLst>
          </p:cNvPr>
          <p:cNvSpPr txBox="1"/>
          <p:nvPr/>
        </p:nvSpPr>
        <p:spPr>
          <a:xfrm>
            <a:off x="9973731" y="2415102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Prediction 4</a:t>
            </a:r>
          </a:p>
          <a:p>
            <a:pPr algn="ctr"/>
            <a:r>
              <a:rPr lang="en-US" sz="1400" dirty="0"/>
              <a:t>710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BCAAEA6B-DD0B-4491-B657-423F2EA7295E}"/>
              </a:ext>
            </a:extLst>
          </p:cNvPr>
          <p:cNvSpPr/>
          <p:nvPr/>
        </p:nvSpPr>
        <p:spPr>
          <a:xfrm rot="16200000">
            <a:off x="8229759" y="665746"/>
            <a:ext cx="389467" cy="5028885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889EF-D6F3-411A-B272-309D7155BB34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6302514" y="2108362"/>
            <a:ext cx="1" cy="322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E7C9BE-B6B1-4DC2-B0A5-90AFB677A407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7702979" y="2092232"/>
            <a:ext cx="5001" cy="322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C769F7-D8A1-4090-8A95-6FFFEE828C69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>
            <a:off x="9113446" y="2092232"/>
            <a:ext cx="1" cy="322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6392D0-BF8A-40BA-920F-10F65F5AF4D3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10518912" y="2092232"/>
            <a:ext cx="1" cy="322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601AA87-8F6C-40FD-A91D-9E9D73FB60BA}"/>
              </a:ext>
            </a:extLst>
          </p:cNvPr>
          <p:cNvSpPr txBox="1"/>
          <p:nvPr/>
        </p:nvSpPr>
        <p:spPr>
          <a:xfrm>
            <a:off x="7564207" y="3583272"/>
            <a:ext cx="172056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720, 690, 760, 710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4CC74C-C033-4CB8-9E47-E12A962B0A43}"/>
              </a:ext>
            </a:extLst>
          </p:cNvPr>
          <p:cNvSpPr txBox="1"/>
          <p:nvPr/>
        </p:nvSpPr>
        <p:spPr>
          <a:xfrm>
            <a:off x="7134946" y="4199866"/>
            <a:ext cx="10285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P90 ≈ 690</a:t>
            </a:r>
            <a:br>
              <a:rPr lang="en-US" sz="1400" dirty="0"/>
            </a:br>
            <a:r>
              <a:rPr lang="en-US" sz="1400" dirty="0"/>
              <a:t>P50 ≈ 720</a:t>
            </a:r>
            <a:br>
              <a:rPr lang="en-US" sz="1400" dirty="0"/>
            </a:br>
            <a:r>
              <a:rPr lang="en-US" sz="1400" dirty="0"/>
              <a:t>P10 ≈ 760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E7CAF6-5A96-46D7-87F5-B2852A9D1FA7}"/>
              </a:ext>
            </a:extLst>
          </p:cNvPr>
          <p:cNvSpPr txBox="1"/>
          <p:nvPr/>
        </p:nvSpPr>
        <p:spPr>
          <a:xfrm>
            <a:off x="8568264" y="4196610"/>
            <a:ext cx="17205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Conservative → 690</a:t>
            </a:r>
            <a:br>
              <a:rPr lang="en-US" sz="1400" dirty="0"/>
            </a:br>
            <a:r>
              <a:rPr lang="en-US" sz="1400" dirty="0"/>
              <a:t>Median → 720</a:t>
            </a:r>
            <a:br>
              <a:rPr lang="en-US" sz="1400" dirty="0"/>
            </a:br>
            <a:r>
              <a:rPr lang="en-US" sz="1400" dirty="0"/>
              <a:t>Optimistic → 760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537D23C-9F0C-4B9E-B0BF-D3AF5045D641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 flipH="1">
            <a:off x="7649231" y="3891049"/>
            <a:ext cx="775261" cy="308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AADFB8E-4AF1-4F09-9495-01D5857C82AA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8424492" y="3891049"/>
            <a:ext cx="1004057" cy="305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2445193-0A95-47A2-A7C7-B89A80A5B26E}"/>
              </a:ext>
            </a:extLst>
          </p:cNvPr>
          <p:cNvSpPr txBox="1"/>
          <p:nvPr/>
        </p:nvSpPr>
        <p:spPr>
          <a:xfrm>
            <a:off x="2135255" y="5161934"/>
            <a:ext cx="7921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Bootstrapping estimates uncertainty by training many models on resampled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If predictions change a lot across bootstrap models → uncertainty is high.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/>
              <a:t>If predictions are similar → uncertainty is low.</a:t>
            </a:r>
            <a:endParaRPr lang="en-US" sz="1600" b="1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0CF6A3-6B1A-4573-9706-00F25CB6F001}"/>
              </a:ext>
            </a:extLst>
          </p:cNvPr>
          <p:cNvSpPr txBox="1"/>
          <p:nvPr/>
        </p:nvSpPr>
        <p:spPr>
          <a:xfrm>
            <a:off x="7702979" y="985567"/>
            <a:ext cx="1369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Original dataset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0CA282-C6BC-40A4-B54D-EA79938DBAF4}"/>
              </a:ext>
            </a:extLst>
          </p:cNvPr>
          <p:cNvCxnSpPr>
            <a:cxnSpLocks/>
            <a:stCxn id="44" idx="2"/>
            <a:endCxn id="6" idx="0"/>
          </p:cNvCxnSpPr>
          <p:nvPr/>
        </p:nvCxnSpPr>
        <p:spPr>
          <a:xfrm flipH="1">
            <a:off x="6302514" y="1293344"/>
            <a:ext cx="2085204" cy="291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FF387DE-8225-4480-90A6-2D07D02C8A60}"/>
              </a:ext>
            </a:extLst>
          </p:cNvPr>
          <p:cNvCxnSpPr>
            <a:cxnSpLocks/>
            <a:stCxn id="44" idx="2"/>
            <a:endCxn id="7" idx="0"/>
          </p:cNvCxnSpPr>
          <p:nvPr/>
        </p:nvCxnSpPr>
        <p:spPr>
          <a:xfrm flipH="1">
            <a:off x="7707980" y="1293344"/>
            <a:ext cx="679738" cy="275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2CC9170-E311-470B-8304-AE7D4909AFD0}"/>
              </a:ext>
            </a:extLst>
          </p:cNvPr>
          <p:cNvCxnSpPr>
            <a:cxnSpLocks/>
            <a:stCxn id="44" idx="2"/>
            <a:endCxn id="8" idx="0"/>
          </p:cNvCxnSpPr>
          <p:nvPr/>
        </p:nvCxnSpPr>
        <p:spPr>
          <a:xfrm>
            <a:off x="8387718" y="1293344"/>
            <a:ext cx="725728" cy="275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924E84D-016B-4F29-B59E-8A3ACC92BE85}"/>
              </a:ext>
            </a:extLst>
          </p:cNvPr>
          <p:cNvCxnSpPr>
            <a:cxnSpLocks/>
            <a:stCxn id="44" idx="2"/>
            <a:endCxn id="9" idx="0"/>
          </p:cNvCxnSpPr>
          <p:nvPr/>
        </p:nvCxnSpPr>
        <p:spPr>
          <a:xfrm>
            <a:off x="8387718" y="1293344"/>
            <a:ext cx="2131194" cy="275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73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23ED-9B37-02C8-5BD7-E075D1B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619BF-A746-79AF-07DF-79FD8A86A248}"/>
              </a:ext>
            </a:extLst>
          </p:cNvPr>
          <p:cNvSpPr txBox="1">
            <a:spLocks/>
          </p:cNvSpPr>
          <p:nvPr/>
        </p:nvSpPr>
        <p:spPr>
          <a:xfrm>
            <a:off x="276658" y="99249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ysClr val="windowText" lastClr="000000"/>
                </a:solidFill>
                <a:latin typeface="Avenir Next LT Pro" panose="020B0504020202020204" pitchFamily="34" charset="0"/>
              </a:rPr>
              <a:t>6</a:t>
            </a: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.1 Quantile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7664-54D7-94B0-01C0-EF3A1EAC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1F5DD-ED2E-47A2-A88F-9DC0C46EA390}"/>
              </a:ext>
            </a:extLst>
          </p:cNvPr>
          <p:cNvSpPr txBox="1"/>
          <p:nvPr/>
        </p:nvSpPr>
        <p:spPr>
          <a:xfrm>
            <a:off x="380913" y="978021"/>
            <a:ext cx="46160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venir Next LT Pro" panose="020B0504020202020204" pitchFamily="34" charset="0"/>
              </a:rPr>
              <a:t>Quantile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LT Pro" panose="020B0504020202020204" pitchFamily="34" charset="0"/>
              </a:rPr>
              <a:t>Model learns uncertainty (quantiles)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Train for P90, P50, P10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Ordinary regression models treats overprediction and underprediction </a:t>
            </a:r>
            <a:r>
              <a:rPr lang="en-US" sz="1400" b="1" dirty="0"/>
              <a:t>symmetrically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Quantile regression treats them </a:t>
            </a:r>
            <a:r>
              <a:rPr lang="en-US" sz="1400" b="1" dirty="0"/>
              <a:t>asymmetrically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9353AB-F9E8-44D6-9E86-0DC961285378}"/>
              </a:ext>
            </a:extLst>
          </p:cNvPr>
          <p:cNvSpPr txBox="1"/>
          <p:nvPr/>
        </p:nvSpPr>
        <p:spPr>
          <a:xfrm>
            <a:off x="5902512" y="1214213"/>
            <a:ext cx="1125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Model 1</a:t>
            </a:r>
          </a:p>
          <a:p>
            <a:pPr algn="ctr"/>
            <a:r>
              <a:rPr lang="en-US" sz="1400" dirty="0"/>
              <a:t>Train for P10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047C0-7EA8-4518-8451-C4D511A8F5C0}"/>
              </a:ext>
            </a:extLst>
          </p:cNvPr>
          <p:cNvSpPr txBox="1"/>
          <p:nvPr/>
        </p:nvSpPr>
        <p:spPr>
          <a:xfrm>
            <a:off x="7816948" y="1214213"/>
            <a:ext cx="1107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Model 2</a:t>
            </a:r>
          </a:p>
          <a:p>
            <a:pPr algn="ctr"/>
            <a:r>
              <a:rPr lang="en-US" sz="1400" dirty="0"/>
              <a:t>Train for P50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AAA6B2-D606-48E7-BA59-F59F8C500D20}"/>
              </a:ext>
            </a:extLst>
          </p:cNvPr>
          <p:cNvSpPr txBox="1"/>
          <p:nvPr/>
        </p:nvSpPr>
        <p:spPr>
          <a:xfrm>
            <a:off x="9708702" y="1214213"/>
            <a:ext cx="1125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Model 3</a:t>
            </a:r>
          </a:p>
          <a:p>
            <a:pPr algn="ctr"/>
            <a:r>
              <a:rPr lang="en-US" sz="1400" dirty="0"/>
              <a:t>Train for P90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AB7718-958C-4B34-A1DB-7F173F4A76B7}"/>
              </a:ext>
            </a:extLst>
          </p:cNvPr>
          <p:cNvSpPr txBox="1"/>
          <p:nvPr/>
        </p:nvSpPr>
        <p:spPr>
          <a:xfrm>
            <a:off x="5924538" y="2084076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Prediction 1</a:t>
            </a:r>
          </a:p>
          <a:p>
            <a:pPr algn="ctr"/>
            <a:r>
              <a:rPr lang="en-US" sz="1400" dirty="0"/>
              <a:t>760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6D6039-B2F8-4C4E-8C27-B0B2119EFA9D}"/>
              </a:ext>
            </a:extLst>
          </p:cNvPr>
          <p:cNvSpPr txBox="1"/>
          <p:nvPr/>
        </p:nvSpPr>
        <p:spPr>
          <a:xfrm>
            <a:off x="7830469" y="2053479"/>
            <a:ext cx="1080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Prediction 2</a:t>
            </a:r>
          </a:p>
          <a:p>
            <a:pPr algn="ctr"/>
            <a:r>
              <a:rPr lang="en-US" sz="1400" dirty="0"/>
              <a:t>710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C485DA-F385-485B-A039-D0A62CE9F136}"/>
              </a:ext>
            </a:extLst>
          </p:cNvPr>
          <p:cNvSpPr txBox="1"/>
          <p:nvPr/>
        </p:nvSpPr>
        <p:spPr>
          <a:xfrm>
            <a:off x="9726398" y="2029231"/>
            <a:ext cx="1090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Prediction 3</a:t>
            </a:r>
          </a:p>
          <a:p>
            <a:pPr algn="ctr"/>
            <a:r>
              <a:rPr lang="en-US" sz="1400" dirty="0"/>
              <a:t>690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8FCAC56-3D66-4F26-AD97-2A51E0ABFB48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6465391" y="1737433"/>
            <a:ext cx="4329" cy="346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3FCF8D-AE57-4B0F-BC9D-A5BE71B21237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8370465" y="1737433"/>
            <a:ext cx="184" cy="31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E4D419-64B0-4A14-8099-E9917305A434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10271580" y="1737433"/>
            <a:ext cx="1" cy="291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90DB79-F119-41D7-BCCF-1F9E53322CCD}"/>
              </a:ext>
            </a:extLst>
          </p:cNvPr>
          <p:cNvSpPr txBox="1"/>
          <p:nvPr/>
        </p:nvSpPr>
        <p:spPr>
          <a:xfrm>
            <a:off x="6214396" y="2689223"/>
            <a:ext cx="501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DFE134-CDA5-443A-BC0A-FE6B28BF0D55}"/>
              </a:ext>
            </a:extLst>
          </p:cNvPr>
          <p:cNvSpPr txBox="1"/>
          <p:nvPr/>
        </p:nvSpPr>
        <p:spPr>
          <a:xfrm>
            <a:off x="7685727" y="614638"/>
            <a:ext cx="1369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Original dataset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A39729-E77E-46D6-9087-3D23558216D4}"/>
              </a:ext>
            </a:extLst>
          </p:cNvPr>
          <p:cNvCxnSpPr>
            <a:cxnSpLocks/>
            <a:stCxn id="26" idx="2"/>
            <a:endCxn id="8" idx="0"/>
          </p:cNvCxnSpPr>
          <p:nvPr/>
        </p:nvCxnSpPr>
        <p:spPr>
          <a:xfrm flipH="1">
            <a:off x="6465391" y="922415"/>
            <a:ext cx="1905075" cy="291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74B235-D809-4CAA-B96D-B5589A2475B6}"/>
              </a:ext>
            </a:extLst>
          </p:cNvPr>
          <p:cNvCxnSpPr>
            <a:cxnSpLocks/>
            <a:stCxn id="26" idx="2"/>
            <a:endCxn id="9" idx="0"/>
          </p:cNvCxnSpPr>
          <p:nvPr/>
        </p:nvCxnSpPr>
        <p:spPr>
          <a:xfrm flipH="1">
            <a:off x="8370465" y="922415"/>
            <a:ext cx="1" cy="291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59E7C6-3FB8-40FF-BB75-E172889A59E1}"/>
              </a:ext>
            </a:extLst>
          </p:cNvPr>
          <p:cNvCxnSpPr>
            <a:cxnSpLocks/>
            <a:stCxn id="26" idx="2"/>
            <a:endCxn id="10" idx="0"/>
          </p:cNvCxnSpPr>
          <p:nvPr/>
        </p:nvCxnSpPr>
        <p:spPr>
          <a:xfrm>
            <a:off x="8370466" y="922415"/>
            <a:ext cx="1901115" cy="291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8B75CAB-8ECB-4A51-9696-8690CBFB1428}"/>
              </a:ext>
            </a:extLst>
          </p:cNvPr>
          <p:cNvSpPr txBox="1"/>
          <p:nvPr/>
        </p:nvSpPr>
        <p:spPr>
          <a:xfrm>
            <a:off x="8119471" y="2706156"/>
            <a:ext cx="501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P50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DB7E63-29DE-4259-B67C-9498CE06DC68}"/>
              </a:ext>
            </a:extLst>
          </p:cNvPr>
          <p:cNvSpPr txBox="1"/>
          <p:nvPr/>
        </p:nvSpPr>
        <p:spPr>
          <a:xfrm>
            <a:off x="10024546" y="2704796"/>
            <a:ext cx="5019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P90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DD8E14-A864-427F-BE92-F95A3C6E4943}"/>
              </a:ext>
            </a:extLst>
          </p:cNvPr>
          <p:cNvSpPr txBox="1"/>
          <p:nvPr/>
        </p:nvSpPr>
        <p:spPr>
          <a:xfrm>
            <a:off x="5924538" y="3559339"/>
            <a:ext cx="3284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P10 model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Actual value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Model prediction = 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Loss = 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D0B1C9-1347-4477-8591-637DCFC07102}"/>
              </a:ext>
            </a:extLst>
          </p:cNvPr>
          <p:cNvSpPr txBox="1"/>
          <p:nvPr/>
        </p:nvSpPr>
        <p:spPr>
          <a:xfrm>
            <a:off x="7482313" y="4689680"/>
            <a:ext cx="3284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Ordinary regression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Actual value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Model prediction = 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Loss = 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369F4E-F035-44C4-9D12-ED7DA858B818}"/>
              </a:ext>
            </a:extLst>
          </p:cNvPr>
          <p:cNvSpPr txBox="1"/>
          <p:nvPr/>
        </p:nvSpPr>
        <p:spPr>
          <a:xfrm>
            <a:off x="9209423" y="3550152"/>
            <a:ext cx="21899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P90 model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Actual value =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Model prediction = 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Loss = ?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A6D363A-3ACC-490F-B42E-40E749D15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33" y="2862183"/>
            <a:ext cx="5209599" cy="278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2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23ED-9B37-02C8-5BD7-E075D1B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619BF-A746-79AF-07DF-79FD8A86A248}"/>
              </a:ext>
            </a:extLst>
          </p:cNvPr>
          <p:cNvSpPr txBox="1">
            <a:spLocks/>
          </p:cNvSpPr>
          <p:nvPr/>
        </p:nvSpPr>
        <p:spPr>
          <a:xfrm>
            <a:off x="276658" y="99249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ysClr val="windowText" lastClr="000000"/>
                </a:solidFill>
                <a:latin typeface="Avenir Next LT Pro" panose="020B0504020202020204" pitchFamily="34" charset="0"/>
              </a:rPr>
              <a:t>6.1 Bayesian approach</a:t>
            </a:r>
            <a:endParaRPr kumimoji="0" lang="en-US" sz="28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venir Next LT Pro" panose="020B05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7664-54D7-94B0-01C0-EF3A1EAC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55B65-7541-44E3-857D-4F64DD6FDEC0}"/>
              </a:ext>
            </a:extLst>
          </p:cNvPr>
          <p:cNvSpPr txBox="1"/>
          <p:nvPr/>
        </p:nvSpPr>
        <p:spPr>
          <a:xfrm>
            <a:off x="567267" y="1049867"/>
            <a:ext cx="180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9A72F4-B53A-4E99-870C-44CAC0CA24F9}"/>
                  </a:ext>
                </a:extLst>
              </p:cNvPr>
              <p:cNvSpPr txBox="1"/>
              <p:nvPr/>
            </p:nvSpPr>
            <p:spPr>
              <a:xfrm>
                <a:off x="689479" y="1491045"/>
                <a:ext cx="17852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9A72F4-B53A-4E99-870C-44CAC0CA2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79" y="1491045"/>
                <a:ext cx="1785297" cy="276999"/>
              </a:xfrm>
              <a:prstGeom prst="rect">
                <a:avLst/>
              </a:prstGeom>
              <a:blipFill>
                <a:blip r:embed="rId2"/>
                <a:stretch>
                  <a:fillRect l="-2730" r="-1365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202B5A-3E7E-4E44-8435-F50417B8E061}"/>
                  </a:ext>
                </a:extLst>
              </p:cNvPr>
              <p:cNvSpPr txBox="1"/>
              <p:nvPr/>
            </p:nvSpPr>
            <p:spPr>
              <a:xfrm>
                <a:off x="677550" y="1867871"/>
                <a:ext cx="15892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6202B5A-3E7E-4E44-8435-F50417B8E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50" y="1867871"/>
                <a:ext cx="158922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702EAA-D5D8-4BA6-87FB-D78EAECDACA7}"/>
                  </a:ext>
                </a:extLst>
              </p:cNvPr>
              <p:cNvSpPr txBox="1"/>
              <p:nvPr/>
            </p:nvSpPr>
            <p:spPr>
              <a:xfrm>
                <a:off x="4168036" y="1863064"/>
                <a:ext cx="17852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702EAA-D5D8-4BA6-87FB-D78EAECDA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036" y="1863064"/>
                <a:ext cx="1785297" cy="276999"/>
              </a:xfrm>
              <a:prstGeom prst="rect">
                <a:avLst/>
              </a:prstGeom>
              <a:blipFill>
                <a:blip r:embed="rId4"/>
                <a:stretch>
                  <a:fillRect l="-2730" r="-1365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F31A764-1942-4A2F-AAD9-31B95D1DA6DB}"/>
              </a:ext>
            </a:extLst>
          </p:cNvPr>
          <p:cNvSpPr txBox="1"/>
          <p:nvPr/>
        </p:nvSpPr>
        <p:spPr>
          <a:xfrm>
            <a:off x="4028446" y="1216733"/>
            <a:ext cx="2067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Bayesian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D51267-5496-4D23-8E95-44163C4DE5B5}"/>
                  </a:ext>
                </a:extLst>
              </p:cNvPr>
              <p:cNvSpPr txBox="1"/>
              <p:nvPr/>
            </p:nvSpPr>
            <p:spPr>
              <a:xfrm>
                <a:off x="3939768" y="2325941"/>
                <a:ext cx="17949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𝑑𝑖𝑠𝑡𝑟𝑖𝑏𝑢𝑡𝑖𝑜𝑛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D51267-5496-4D23-8E95-44163C4DE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9768" y="2325941"/>
                <a:ext cx="179493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4E944F6-D821-4E70-94A3-D98022093E31}"/>
              </a:ext>
            </a:extLst>
          </p:cNvPr>
          <p:cNvSpPr txBox="1"/>
          <p:nvPr/>
        </p:nvSpPr>
        <p:spPr>
          <a:xfrm>
            <a:off x="499574" y="2478326"/>
            <a:ext cx="2394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fixed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Overconfident parameters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CC14B4-92F5-41EA-A624-2802E3322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991" y="1793624"/>
            <a:ext cx="1671386" cy="4090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A68CF2-CD5C-4FE5-A208-FFA39BB7AB80}"/>
              </a:ext>
            </a:extLst>
          </p:cNvPr>
          <p:cNvSpPr txBox="1"/>
          <p:nvPr/>
        </p:nvSpPr>
        <p:spPr>
          <a:xfrm>
            <a:off x="6450159" y="2215214"/>
            <a:ext cx="224933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slope is probably around 2.0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not exactly known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uncertainty around 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38CD88-F50C-471F-9413-4F815DE255BC}"/>
              </a:ext>
            </a:extLst>
          </p:cNvPr>
          <p:cNvSpPr txBox="1"/>
          <p:nvPr/>
        </p:nvSpPr>
        <p:spPr>
          <a:xfrm>
            <a:off x="4028446" y="4503668"/>
            <a:ext cx="416327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Bayesian learning starts with an initial belief, called a </a:t>
            </a:r>
            <a:r>
              <a:rPr lang="en-US" sz="1400" b="1" dirty="0"/>
              <a:t>prior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Then </a:t>
            </a:r>
            <a:r>
              <a:rPr lang="en-US" sz="1400" b="1" dirty="0"/>
              <a:t>data</a:t>
            </a:r>
            <a:r>
              <a:rPr lang="en-US" sz="1400" dirty="0"/>
              <a:t> updates that belief.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result is the </a:t>
            </a:r>
            <a:r>
              <a:rPr lang="en-US" sz="1400" b="1" dirty="0"/>
              <a:t>posterior</a:t>
            </a:r>
            <a:r>
              <a:rPr lang="en-US" sz="1400" dirty="0"/>
              <a:t>, which is our new uncertainty-aware estimate.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4C6F50-0A19-4363-9F2C-7C1C52693BDE}"/>
              </a:ext>
            </a:extLst>
          </p:cNvPr>
          <p:cNvSpPr txBox="1"/>
          <p:nvPr/>
        </p:nvSpPr>
        <p:spPr>
          <a:xfrm>
            <a:off x="8712552" y="985900"/>
            <a:ext cx="32132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Bayesian vocabulary: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Prior - </a:t>
            </a:r>
            <a:r>
              <a:rPr lang="en-US" sz="1200" i="1" dirty="0"/>
              <a:t>What we believe before seeing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Data - </a:t>
            </a:r>
            <a:r>
              <a:rPr lang="en-US" sz="1200" i="1" dirty="0"/>
              <a:t>Observed training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i="1" dirty="0"/>
              <a:t>Posterior - </a:t>
            </a:r>
            <a:r>
              <a:rPr lang="en-US" sz="1200" i="1" dirty="0"/>
              <a:t>Updated belief after seeing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EB6EC4-EEFF-4C60-A1FF-64C6861AF2A9}"/>
              </a:ext>
            </a:extLst>
          </p:cNvPr>
          <p:cNvSpPr txBox="1"/>
          <p:nvPr/>
        </p:nvSpPr>
        <p:spPr>
          <a:xfrm>
            <a:off x="4262592" y="4085794"/>
            <a:ext cx="3780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Prior belief + Data = Posterior belief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D6F4EBF-1833-41A3-94F5-3A6C9E882D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953" y="3029221"/>
            <a:ext cx="2430471" cy="275726"/>
          </a:xfrm>
          <a:prstGeom prst="rect">
            <a:avLst/>
          </a:prstGeom>
        </p:spPr>
      </p:pic>
      <p:pic>
        <p:nvPicPr>
          <p:cNvPr id="2051" name="Picture 3" descr="A Comprehensive Introduction to Bayesian Deep Learning - Joris Baan">
            <a:extLst>
              <a:ext uri="{FF2B5EF4-FFF2-40B4-BE49-F238E27FC236}">
                <a16:creationId xmlns:a16="http://schemas.microsoft.com/office/drawing/2014/main" id="{B3D000D6-9F82-4C97-AF4B-F1935C406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3531559"/>
            <a:ext cx="3219514" cy="2348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70D1530-FEFE-46DA-953B-49CEA19B604F}"/>
              </a:ext>
            </a:extLst>
          </p:cNvPr>
          <p:cNvSpPr/>
          <p:nvPr/>
        </p:nvSpPr>
        <p:spPr>
          <a:xfrm>
            <a:off x="431321" y="978021"/>
            <a:ext cx="2648309" cy="2051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4F49DCD-016E-4163-B145-207FCCE00C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0006" y="3304947"/>
            <a:ext cx="3635795" cy="235721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7275067-6BF3-448F-BFBB-62ACC6F930D0}"/>
              </a:ext>
            </a:extLst>
          </p:cNvPr>
          <p:cNvSpPr txBox="1"/>
          <p:nvPr/>
        </p:nvSpPr>
        <p:spPr>
          <a:xfrm>
            <a:off x="194528" y="6382317"/>
            <a:ext cx="79840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Avenir Next LT Pro" panose="020B0504020202020204" pitchFamily="34" charset="0"/>
                <a:sym typeface="Wingdings" panose="05000000000000000000" pitchFamily="2" charset="2"/>
              </a:rPr>
              <a:t>https://geostatsguy.github.io/MachineLearningDemos_Book/MachineLearning_Bayesian_linear_regression.html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E101C3-AC7D-4FD8-8AB7-3E75475A9E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6831" y="3414679"/>
            <a:ext cx="2353003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91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D123ED-9B37-02C8-5BD7-E075D1BD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A619BF-A746-79AF-07DF-79FD8A86A248}"/>
              </a:ext>
            </a:extLst>
          </p:cNvPr>
          <p:cNvSpPr txBox="1">
            <a:spLocks/>
          </p:cNvSpPr>
          <p:nvPr/>
        </p:nvSpPr>
        <p:spPr>
          <a:xfrm>
            <a:off x="276658" y="99249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5.1 Uncertainty quantification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E7664-54D7-94B0-01C0-EF3A1EAC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50B80-8751-6FBE-D28B-6045571FC760}"/>
              </a:ext>
            </a:extLst>
          </p:cNvPr>
          <p:cNvSpPr txBox="1"/>
          <p:nvPr/>
        </p:nvSpPr>
        <p:spPr>
          <a:xfrm>
            <a:off x="6453736" y="1086019"/>
            <a:ext cx="32524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Source of uncertainty: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noisy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limited training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randomness in 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Imperfect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14302D-B03F-4A2D-A744-227C6D9B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179" y="2539431"/>
            <a:ext cx="5320637" cy="2536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DB52D6-1D61-4D4B-94AC-3CC2E748384D}"/>
              </a:ext>
            </a:extLst>
          </p:cNvPr>
          <p:cNvSpPr txBox="1"/>
          <p:nvPr/>
        </p:nvSpPr>
        <p:spPr>
          <a:xfrm>
            <a:off x="2400822" y="5400027"/>
            <a:ext cx="65261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Instead of predicting a single value, we predict a </a:t>
            </a:r>
            <a:r>
              <a:rPr lang="en-US" sz="1400" b="1" i="1" dirty="0"/>
              <a:t>distribution of possible outcomes</a:t>
            </a:r>
            <a:r>
              <a:rPr lang="en-US" sz="1400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Good ML models estimate both prediction and uncertainty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24CEA-2AFD-4109-90DF-83177C0E7B29}"/>
              </a:ext>
            </a:extLst>
          </p:cNvPr>
          <p:cNvSpPr txBox="1"/>
          <p:nvPr/>
        </p:nvSpPr>
        <p:spPr>
          <a:xfrm>
            <a:off x="736601" y="1042424"/>
            <a:ext cx="22938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Scenario:</a:t>
            </a:r>
          </a:p>
          <a:p>
            <a:r>
              <a:rPr lang="en-US" sz="1400" i="1" dirty="0"/>
              <a:t>Model prediction = 800 </a:t>
            </a:r>
            <a:r>
              <a:rPr lang="en-US" sz="1400" i="1" dirty="0" err="1"/>
              <a:t>stb</a:t>
            </a:r>
            <a:r>
              <a:rPr lang="en-US" sz="1400" i="1" dirty="0"/>
              <a:t>/d</a:t>
            </a:r>
          </a:p>
          <a:p>
            <a:r>
              <a:rPr lang="en-US" sz="1400" i="1" dirty="0"/>
              <a:t>Actual production = 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75B8EA-FB21-47C5-98F9-792EDF0E6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" y="2255571"/>
            <a:ext cx="5112279" cy="2847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39434BE-1602-470B-BF81-A0957213A0CC}"/>
              </a:ext>
            </a:extLst>
          </p:cNvPr>
          <p:cNvSpPr txBox="1"/>
          <p:nvPr/>
        </p:nvSpPr>
        <p:spPr>
          <a:xfrm>
            <a:off x="9924524" y="1633601"/>
            <a:ext cx="17848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 err="1">
                <a:effectLst/>
                <a:latin typeface="Consolas" panose="020B0609020204030204" pitchFamily="49" charset="0"/>
              </a:rPr>
              <a:t>np.random.seed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1200" dirty="0">
                <a:latin typeface="Consolas" panose="020B0609020204030204" pitchFamily="49" charset="0"/>
              </a:rPr>
              <a:t>42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449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6764-AE91-EE31-8C27-A7A70AC0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36E64BE-4255-BFC0-9885-C5228C0033C8}"/>
              </a:ext>
            </a:extLst>
          </p:cNvPr>
          <p:cNvSpPr txBox="1">
            <a:spLocks/>
          </p:cNvSpPr>
          <p:nvPr/>
        </p:nvSpPr>
        <p:spPr>
          <a:xfrm>
            <a:off x="166381" y="54787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Training for Generalization</a:t>
            </a:r>
          </a:p>
        </p:txBody>
      </p:sp>
      <p:pic>
        <p:nvPicPr>
          <p:cNvPr id="34" name="Picture 8" descr="Love the Yusuf Dikeç memes this week. Here's my take:">
            <a:extLst>
              <a:ext uri="{FF2B5EF4-FFF2-40B4-BE49-F238E27FC236}">
                <a16:creationId xmlns:a16="http://schemas.microsoft.com/office/drawing/2014/main" id="{8E703FD6-18AC-CF38-07F2-21BCF77E0E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7" t="27145" r="2147" b="3046"/>
          <a:stretch>
            <a:fillRect/>
          </a:stretch>
        </p:blipFill>
        <p:spPr bwMode="auto">
          <a:xfrm>
            <a:off x="391431" y="3613666"/>
            <a:ext cx="1857376" cy="21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5B239C0-5DF2-CD11-1A1C-E615F46C4427}"/>
              </a:ext>
            </a:extLst>
          </p:cNvPr>
          <p:cNvSpPr txBox="1"/>
          <p:nvPr/>
        </p:nvSpPr>
        <p:spPr>
          <a:xfrm>
            <a:off x="830262" y="885792"/>
            <a:ext cx="1055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Player 1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65C726-13EB-B4B7-A020-618C7E290DFD}"/>
              </a:ext>
            </a:extLst>
          </p:cNvPr>
          <p:cNvSpPr txBox="1"/>
          <p:nvPr/>
        </p:nvSpPr>
        <p:spPr>
          <a:xfrm>
            <a:off x="830262" y="5787542"/>
            <a:ext cx="1055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Player 2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5FCFCB-9268-3087-87B0-8475D80B1F65}"/>
              </a:ext>
            </a:extLst>
          </p:cNvPr>
          <p:cNvSpPr txBox="1"/>
          <p:nvPr/>
        </p:nvSpPr>
        <p:spPr>
          <a:xfrm>
            <a:off x="2711452" y="1694002"/>
            <a:ext cx="26921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Perfectly prepared with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Ideal equipment</a:t>
            </a:r>
          </a:p>
          <a:p>
            <a:endParaRPr lang="en-US" dirty="0">
              <a:solidFill>
                <a:prstClr val="black"/>
              </a:solidFill>
              <a:latin typeface="Avenir Next LT Pro Light"/>
            </a:endParaRPr>
          </a:p>
          <a:p>
            <a:r>
              <a:rPr lang="en-US" b="1" dirty="0">
                <a:solidFill>
                  <a:prstClr val="black"/>
                </a:solidFill>
                <a:latin typeface="Avenir Next LT Pro Light"/>
              </a:rPr>
              <a:t>For 10m air pistol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C5E3F1-6F3F-FF10-7CAF-E22CD03866A3}"/>
              </a:ext>
            </a:extLst>
          </p:cNvPr>
          <p:cNvSpPr txBox="1"/>
          <p:nvPr/>
        </p:nvSpPr>
        <p:spPr>
          <a:xfrm>
            <a:off x="2734148" y="4103765"/>
            <a:ext cx="26694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Greatly  prepared with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little equipment</a:t>
            </a:r>
          </a:p>
          <a:p>
            <a:endParaRPr lang="en-US" dirty="0">
              <a:solidFill>
                <a:prstClr val="black"/>
              </a:solidFill>
              <a:latin typeface="Avenir Next LT Pro Light"/>
            </a:endParaRPr>
          </a:p>
          <a:p>
            <a:r>
              <a:rPr lang="en-US" b="1" dirty="0">
                <a:solidFill>
                  <a:prstClr val="black"/>
                </a:solidFill>
                <a:latin typeface="Avenir Next LT Pro Light"/>
              </a:rPr>
              <a:t>For 10-25m air pistol</a:t>
            </a:r>
          </a:p>
          <a:p>
            <a:r>
              <a:rPr lang="en-US" b="1" dirty="0">
                <a:solidFill>
                  <a:prstClr val="black"/>
                </a:solidFill>
                <a:latin typeface="Avenir Next LT Pro Light"/>
              </a:rPr>
              <a:t>Military training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61BD4E8-5170-2DA3-44B0-5E6BF022E87D}"/>
              </a:ext>
            </a:extLst>
          </p:cNvPr>
          <p:cNvCxnSpPr>
            <a:cxnSpLocks/>
          </p:cNvCxnSpPr>
          <p:nvPr/>
        </p:nvCxnSpPr>
        <p:spPr>
          <a:xfrm>
            <a:off x="5611586" y="1070458"/>
            <a:ext cx="0" cy="48096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305F75-7009-A68D-2A79-836335B58067}"/>
              </a:ext>
            </a:extLst>
          </p:cNvPr>
          <p:cNvCxnSpPr>
            <a:cxnSpLocks/>
          </p:cNvCxnSpPr>
          <p:nvPr/>
        </p:nvCxnSpPr>
        <p:spPr>
          <a:xfrm flipH="1">
            <a:off x="5611586" y="1673036"/>
            <a:ext cx="55353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FA32704-3B51-E2E9-D132-2C29A7C9D954}"/>
              </a:ext>
            </a:extLst>
          </p:cNvPr>
          <p:cNvCxnSpPr>
            <a:cxnSpLocks/>
          </p:cNvCxnSpPr>
          <p:nvPr/>
        </p:nvCxnSpPr>
        <p:spPr>
          <a:xfrm>
            <a:off x="11146971" y="1010768"/>
            <a:ext cx="0" cy="48693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3C54518-5FEA-3010-A034-8F7C86277F16}"/>
              </a:ext>
            </a:extLst>
          </p:cNvPr>
          <p:cNvCxnSpPr>
            <a:cxnSpLocks/>
          </p:cNvCxnSpPr>
          <p:nvPr/>
        </p:nvCxnSpPr>
        <p:spPr>
          <a:xfrm>
            <a:off x="8238654" y="994317"/>
            <a:ext cx="0" cy="48693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D4E470F-8835-EC5D-BE15-7994E0399193}"/>
              </a:ext>
            </a:extLst>
          </p:cNvPr>
          <p:cNvSpPr txBox="1"/>
          <p:nvPr/>
        </p:nvSpPr>
        <p:spPr>
          <a:xfrm>
            <a:off x="6156762" y="653231"/>
            <a:ext cx="143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Training set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D28707-9A97-F6B1-6528-569841A203A9}"/>
              </a:ext>
            </a:extLst>
          </p:cNvPr>
          <p:cNvSpPr txBox="1"/>
          <p:nvPr/>
        </p:nvSpPr>
        <p:spPr>
          <a:xfrm>
            <a:off x="5735848" y="1193449"/>
            <a:ext cx="245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2024 Summer Olympics</a:t>
            </a:r>
            <a:endParaRPr lang="en-US" sz="1600" dirty="0"/>
          </a:p>
        </p:txBody>
      </p:sp>
      <p:pic>
        <p:nvPicPr>
          <p:cNvPr id="1034" name="Picture 10" descr="1st Place Olympic 3.25&quot; Medal [M3OLY-1ST]">
            <a:extLst>
              <a:ext uri="{FF2B5EF4-FFF2-40B4-BE49-F238E27FC236}">
                <a16:creationId xmlns:a16="http://schemas.microsoft.com/office/drawing/2014/main" id="{28D1C873-1DD4-88F1-DB73-9DAEBF120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513" y="1925874"/>
            <a:ext cx="1340983" cy="134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2nd Place Olympic 3.25&quot; Medal [M3OLY-2ND]">
            <a:extLst>
              <a:ext uri="{FF2B5EF4-FFF2-40B4-BE49-F238E27FC236}">
                <a16:creationId xmlns:a16="http://schemas.microsoft.com/office/drawing/2014/main" id="{6FF2DC27-F6CA-1C97-187F-C8ABBDA17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529" y="4323567"/>
            <a:ext cx="1340983" cy="134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8701B21-E6EF-10E5-30C7-75C782FAFC82}"/>
              </a:ext>
            </a:extLst>
          </p:cNvPr>
          <p:cNvSpPr txBox="1"/>
          <p:nvPr/>
        </p:nvSpPr>
        <p:spPr>
          <a:xfrm>
            <a:off x="8977051" y="653231"/>
            <a:ext cx="143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Test set</a:t>
            </a:r>
            <a:endParaRPr lang="en-US" dirty="0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34F0C1A8-14D3-65FA-A95D-3E8B342072B0}"/>
              </a:ext>
            </a:extLst>
          </p:cNvPr>
          <p:cNvSpPr txBox="1"/>
          <p:nvPr/>
        </p:nvSpPr>
        <p:spPr>
          <a:xfrm>
            <a:off x="8810214" y="1181388"/>
            <a:ext cx="1884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Free pistol (50 m)</a:t>
            </a:r>
            <a:endParaRPr lang="en-US" sz="1600" dirty="0"/>
          </a:p>
        </p:txBody>
      </p:sp>
      <p:pic>
        <p:nvPicPr>
          <p:cNvPr id="1038" name="Picture 14" descr="Yusuf Dikeç'e Damir Mikec'ten tatlı sitem: Sırbistan'da bile sen bir  numarasın">
            <a:extLst>
              <a:ext uri="{FF2B5EF4-FFF2-40B4-BE49-F238E27FC236}">
                <a16:creationId xmlns:a16="http://schemas.microsoft.com/office/drawing/2014/main" id="{4AABACE1-D834-F798-3D2F-DEB57C685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360589" y="1356089"/>
            <a:ext cx="1888218" cy="207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60863769-23FD-FBE2-0825-F3CA2B2751D0}"/>
              </a:ext>
            </a:extLst>
          </p:cNvPr>
          <p:cNvSpPr txBox="1"/>
          <p:nvPr/>
        </p:nvSpPr>
        <p:spPr>
          <a:xfrm rot="17901572">
            <a:off x="8047934" y="3481653"/>
            <a:ext cx="314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Who looks more prepared?</a:t>
            </a:r>
            <a:endParaRPr lang="en-US" dirty="0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DDD9BAD-E6EA-D545-E789-69F5CFC7D850}"/>
              </a:ext>
            </a:extLst>
          </p:cNvPr>
          <p:cNvSpPr txBox="1"/>
          <p:nvPr/>
        </p:nvSpPr>
        <p:spPr>
          <a:xfrm>
            <a:off x="10413965" y="5943159"/>
            <a:ext cx="15566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Avenir Next LT Pro Light"/>
              </a:rPr>
              <a:t>*Theoretical example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97C0C2EA-4B90-BFBC-0E85-91BC7A7EF7C5}"/>
              </a:ext>
            </a:extLst>
          </p:cNvPr>
          <p:cNvCxnSpPr>
            <a:cxnSpLocks/>
          </p:cNvCxnSpPr>
          <p:nvPr/>
        </p:nvCxnSpPr>
        <p:spPr>
          <a:xfrm flipH="1">
            <a:off x="5611586" y="5863682"/>
            <a:ext cx="5547109" cy="164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463250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8B8BB-06D3-D740-9FF3-66EE2F75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63496C6-9E5A-2C6F-CE88-886644A51D33}"/>
              </a:ext>
            </a:extLst>
          </p:cNvPr>
          <p:cNvSpPr txBox="1">
            <a:spLocks/>
          </p:cNvSpPr>
          <p:nvPr/>
        </p:nvSpPr>
        <p:spPr>
          <a:xfrm>
            <a:off x="127425" y="12764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1.1 </a:t>
            </a: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Supervised machine learning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82273-2BB4-92FF-B163-4E8C69F4AEA0}"/>
              </a:ext>
            </a:extLst>
          </p:cNvPr>
          <p:cNvSpPr txBox="1"/>
          <p:nvPr/>
        </p:nvSpPr>
        <p:spPr>
          <a:xfrm>
            <a:off x="127425" y="729537"/>
            <a:ext cx="12216975" cy="45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This is a type of machine learning paradigm where an algorithm learns to map input data to a specific output based on example input-output pairs.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1B905-875A-8C5F-81AF-281D5F2B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3DF314-F048-6A23-04D2-D3D6E1AC0CA3}"/>
              </a:ext>
            </a:extLst>
          </p:cNvPr>
          <p:cNvGraphicFramePr>
            <a:graphicFrameLocks noGrp="1"/>
          </p:cNvGraphicFramePr>
          <p:nvPr/>
        </p:nvGraphicFramePr>
        <p:xfrm>
          <a:off x="1945329" y="4516249"/>
          <a:ext cx="4007730" cy="15087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77336">
                  <a:extLst>
                    <a:ext uri="{9D8B030D-6E8A-4147-A177-3AD203B41FA5}">
                      <a16:colId xmlns:a16="http://schemas.microsoft.com/office/drawing/2014/main" val="2073464926"/>
                    </a:ext>
                  </a:extLst>
                </a:gridCol>
                <a:gridCol w="1194484">
                  <a:extLst>
                    <a:ext uri="{9D8B030D-6E8A-4147-A177-3AD203B41FA5}">
                      <a16:colId xmlns:a16="http://schemas.microsoft.com/office/drawing/2014/main" val="2080108990"/>
                    </a:ext>
                  </a:extLst>
                </a:gridCol>
                <a:gridCol w="1335910">
                  <a:extLst>
                    <a:ext uri="{9D8B030D-6E8A-4147-A177-3AD203B41FA5}">
                      <a16:colId xmlns:a16="http://schemas.microsoft.com/office/drawing/2014/main" val="3144694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k (</a:t>
                      </a:r>
                      <a:r>
                        <a:rPr lang="en-US" sz="1050" b="1" dirty="0" err="1"/>
                        <a:t>mD</a:t>
                      </a:r>
                      <a:r>
                        <a:rPr lang="en-US" sz="1050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Net Pay (ft)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 err="1"/>
                        <a:t>Sw</a:t>
                      </a:r>
                      <a:endParaRPr lang="en-US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54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69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22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352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0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705591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671B39-AB89-7B42-B913-8EE66258BC0B}"/>
              </a:ext>
            </a:extLst>
          </p:cNvPr>
          <p:cNvGraphicFramePr>
            <a:graphicFrameLocks noGrp="1"/>
          </p:cNvGraphicFramePr>
          <p:nvPr/>
        </p:nvGraphicFramePr>
        <p:xfrm>
          <a:off x="8047202" y="4454681"/>
          <a:ext cx="1982624" cy="167378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82624">
                  <a:extLst>
                    <a:ext uri="{9D8B030D-6E8A-4147-A177-3AD203B41FA5}">
                      <a16:colId xmlns:a16="http://schemas.microsoft.com/office/drawing/2014/main" val="3422204330"/>
                    </a:ext>
                  </a:extLst>
                </a:gridCol>
              </a:tblGrid>
              <a:tr h="302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Productivity (y)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977188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225525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1142067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832233"/>
                  </a:ext>
                </a:extLst>
              </a:tr>
              <a:tr h="260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770527"/>
                  </a:ext>
                </a:extLst>
              </a:tr>
              <a:tr h="260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46307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53A3DD8-9522-D464-618C-280C07A4D69C}"/>
              </a:ext>
            </a:extLst>
          </p:cNvPr>
          <p:cNvSpPr txBox="1"/>
          <p:nvPr/>
        </p:nvSpPr>
        <p:spPr>
          <a:xfrm>
            <a:off x="986558" y="4178766"/>
            <a:ext cx="89159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f(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1BF6D-4D76-CF4C-2CB5-2B2B8B133121}"/>
              </a:ext>
            </a:extLst>
          </p:cNvPr>
          <p:cNvSpPr txBox="1"/>
          <p:nvPr/>
        </p:nvSpPr>
        <p:spPr>
          <a:xfrm>
            <a:off x="5994839" y="4233748"/>
            <a:ext cx="77125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dirty="0">
                <a:latin typeface="Gabriola" panose="04040605051002020D02" pitchFamily="82" charset="0"/>
                <a:cs typeface="Arabic Typesetting" panose="020F0502020204030204" pitchFamily="66" charset="-78"/>
              </a:rPr>
              <a:t>)</a:t>
            </a:r>
            <a:endParaRPr lang="en-US" sz="1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9BE2E5-8384-E08F-F6E1-C804FA29EC48}"/>
              </a:ext>
            </a:extLst>
          </p:cNvPr>
          <p:cNvSpPr txBox="1"/>
          <p:nvPr/>
        </p:nvSpPr>
        <p:spPr>
          <a:xfrm>
            <a:off x="6766096" y="3912472"/>
            <a:ext cx="110127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800" dirty="0">
                <a:latin typeface="Gabriola" panose="04040605051002020D02" pitchFamily="82" charset="0"/>
                <a:cs typeface="Arabic Typesetting" panose="020F0502020204030204" pitchFamily="66" charset="-78"/>
              </a:rPr>
              <a:t>=</a:t>
            </a:r>
            <a:endParaRPr lang="en-US" sz="13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F21C89-7A82-70B4-E81A-8D71D39E23E1}"/>
                  </a:ext>
                </a:extLst>
              </p:cNvPr>
              <p:cNvSpPr txBox="1"/>
              <p:nvPr/>
            </p:nvSpPr>
            <p:spPr>
              <a:xfrm>
                <a:off x="3282247" y="1543414"/>
                <a:ext cx="27574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l-G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F21C89-7A82-70B4-E81A-8D71D39E2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247" y="1543414"/>
                <a:ext cx="2757422" cy="369332"/>
              </a:xfrm>
              <a:prstGeom prst="rect">
                <a:avLst/>
              </a:prstGeom>
              <a:blipFill>
                <a:blip r:embed="rId3"/>
                <a:stretch>
                  <a:fillRect l="-1987" r="-662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D63934-AE9B-7A32-6985-59B40F6CD45D}"/>
              </a:ext>
            </a:extLst>
          </p:cNvPr>
          <p:cNvCxnSpPr>
            <a:cxnSpLocks/>
          </p:cNvCxnSpPr>
          <p:nvPr/>
        </p:nvCxnSpPr>
        <p:spPr>
          <a:xfrm flipH="1">
            <a:off x="1877914" y="1912746"/>
            <a:ext cx="1225550" cy="274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0D55C63-EE3B-73C6-979C-07AB97BEF38A}"/>
              </a:ext>
            </a:extLst>
          </p:cNvPr>
          <p:cNvSpPr txBox="1"/>
          <p:nvPr/>
        </p:nvSpPr>
        <p:spPr>
          <a:xfrm>
            <a:off x="867855" y="2258002"/>
            <a:ext cx="1782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Target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Response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Dependent </a:t>
            </a: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AAC69C6-0CAC-F1DD-C51C-A754C54C464C}"/>
              </a:ext>
            </a:extLst>
          </p:cNvPr>
          <p:cNvCxnSpPr>
            <a:cxnSpLocks/>
          </p:cNvCxnSpPr>
          <p:nvPr/>
        </p:nvCxnSpPr>
        <p:spPr>
          <a:xfrm>
            <a:off x="4905828" y="2110981"/>
            <a:ext cx="123372" cy="69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37C1002-D03A-67DC-1FDE-A83E19BC55B4}"/>
              </a:ext>
            </a:extLst>
          </p:cNvPr>
          <p:cNvSpPr txBox="1"/>
          <p:nvPr/>
        </p:nvSpPr>
        <p:spPr>
          <a:xfrm>
            <a:off x="4591772" y="2869644"/>
            <a:ext cx="1782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Predictor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Input</a:t>
            </a:r>
          </a:p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Independent 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F31DBF-3B41-62DF-984C-2812798BD88B}"/>
              </a:ext>
            </a:extLst>
          </p:cNvPr>
          <p:cNvCxnSpPr>
            <a:cxnSpLocks/>
          </p:cNvCxnSpPr>
          <p:nvPr/>
        </p:nvCxnSpPr>
        <p:spPr>
          <a:xfrm>
            <a:off x="6096000" y="1954017"/>
            <a:ext cx="943429" cy="571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61E98F-5A0F-2EB0-B3C1-2397E35BF25F}"/>
              </a:ext>
            </a:extLst>
          </p:cNvPr>
          <p:cNvSpPr txBox="1"/>
          <p:nvPr/>
        </p:nvSpPr>
        <p:spPr>
          <a:xfrm>
            <a:off x="7039429" y="2436457"/>
            <a:ext cx="245291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Irreducible error</a:t>
            </a:r>
          </a:p>
          <a:p>
            <a:endParaRPr lang="en-US" dirty="0">
              <a:solidFill>
                <a:prstClr val="black"/>
              </a:solidFill>
              <a:latin typeface="Avenir Next LT Pro Light"/>
            </a:endParaRP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Caused by</a:t>
            </a: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1. Noise</a:t>
            </a: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2. Missing features</a:t>
            </a:r>
          </a:p>
          <a:p>
            <a:r>
              <a:rPr lang="en-US" sz="1400" dirty="0">
                <a:solidFill>
                  <a:prstClr val="black"/>
                </a:solidFill>
                <a:latin typeface="Avenir Next LT Pro Light"/>
              </a:rPr>
              <a:t>Bonus:</a:t>
            </a:r>
            <a:endParaRPr lang="en-US" sz="14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F23097-5BD6-59C3-401B-BFBE82D7926D}"/>
              </a:ext>
            </a:extLst>
          </p:cNvPr>
          <p:cNvCxnSpPr>
            <a:cxnSpLocks/>
          </p:cNvCxnSpPr>
          <p:nvPr/>
        </p:nvCxnSpPr>
        <p:spPr>
          <a:xfrm flipH="1">
            <a:off x="3460360" y="1990615"/>
            <a:ext cx="362857" cy="61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495B410-0EE3-35F3-18B7-FD78CF70E51A}"/>
              </a:ext>
            </a:extLst>
          </p:cNvPr>
          <p:cNvSpPr txBox="1"/>
          <p:nvPr/>
        </p:nvSpPr>
        <p:spPr>
          <a:xfrm>
            <a:off x="2535726" y="2686590"/>
            <a:ext cx="1782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Deterministic structure relating 𝑥 to 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656389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5675-2FDE-E394-B87E-EE5A055D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C59C348-2FA7-754E-F5A3-74860833249D}"/>
              </a:ext>
            </a:extLst>
          </p:cNvPr>
          <p:cNvSpPr txBox="1">
            <a:spLocks/>
          </p:cNvSpPr>
          <p:nvPr/>
        </p:nvSpPr>
        <p:spPr>
          <a:xfrm>
            <a:off x="127425" y="12764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Understanding prediction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0463536-217C-E21B-EFC0-59D22A02B1AE}"/>
                  </a:ext>
                </a:extLst>
              </p:cNvPr>
              <p:cNvSpPr txBox="1"/>
              <p:nvPr/>
            </p:nvSpPr>
            <p:spPr>
              <a:xfrm>
                <a:off x="2264433" y="1090249"/>
                <a:ext cx="15919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it-IT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it-IT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0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0463536-217C-E21B-EFC0-59D22A02B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433" y="1090249"/>
                <a:ext cx="1591974" cy="307777"/>
              </a:xfrm>
              <a:prstGeom prst="rect">
                <a:avLst/>
              </a:prstGeom>
              <a:blipFill>
                <a:blip r:embed="rId3"/>
                <a:stretch>
                  <a:fillRect r="-1527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18578A76-F538-391C-D8AE-D5D62583D1E1}"/>
              </a:ext>
            </a:extLst>
          </p:cNvPr>
          <p:cNvSpPr txBox="1"/>
          <p:nvPr/>
        </p:nvSpPr>
        <p:spPr>
          <a:xfrm>
            <a:off x="127425" y="1090249"/>
            <a:ext cx="193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Real target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F50E0-EA5D-A383-B438-790147AADBF9}"/>
              </a:ext>
            </a:extLst>
          </p:cNvPr>
          <p:cNvSpPr txBox="1"/>
          <p:nvPr/>
        </p:nvSpPr>
        <p:spPr>
          <a:xfrm>
            <a:off x="127425" y="1812946"/>
            <a:ext cx="193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Expected error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72ED24-F6DA-6ED3-0369-378F5FBD8713}"/>
                  </a:ext>
                </a:extLst>
              </p:cNvPr>
              <p:cNvSpPr txBox="1"/>
              <p:nvPr/>
            </p:nvSpPr>
            <p:spPr>
              <a:xfrm>
                <a:off x="2264433" y="1768380"/>
                <a:ext cx="4869795" cy="419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</m:d>
                            </m:e>
                            <m:sup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72ED24-F6DA-6ED3-0369-378F5FBD8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433" y="1768380"/>
                <a:ext cx="4869795" cy="419410"/>
              </a:xfrm>
              <a:prstGeom prst="rect">
                <a:avLst/>
              </a:prstGeom>
              <a:blipFill>
                <a:blip r:embed="rId4"/>
                <a:stretch>
                  <a:fillRect l="-626" t="-2899"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5EB2A-6E68-6DD3-6E4F-B5B807613923}"/>
                  </a:ext>
                </a:extLst>
              </p:cNvPr>
              <p:cNvSpPr txBox="1"/>
              <p:nvPr/>
            </p:nvSpPr>
            <p:spPr>
              <a:xfrm>
                <a:off x="2340991" y="2558144"/>
                <a:ext cx="4644733" cy="698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E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</m:acc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lim>
                              </m:limLow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</m:acc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groupCh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lim>
                              </m:limLow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lim>
                              </m:limLow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E5EB2A-6E68-6DD3-6E4F-B5B807613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991" y="2558144"/>
                <a:ext cx="4644733" cy="6986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B736B8-734F-C10A-A1F2-B5C545ADC2A1}"/>
                  </a:ext>
                </a:extLst>
              </p:cNvPr>
              <p:cNvSpPr txBox="1"/>
              <p:nvPr/>
            </p:nvSpPr>
            <p:spPr>
              <a:xfrm>
                <a:off x="1379072" y="4042964"/>
                <a:ext cx="8064772" cy="6782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Bias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</m:acc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</m:acc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Variance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Irreducible</m:t>
                          </m: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2⋅0+2⋅0+2⋅0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cross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terms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vanish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B736B8-734F-C10A-A1F2-B5C545ADC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072" y="4042964"/>
                <a:ext cx="8064772" cy="678263"/>
              </a:xfrm>
              <a:prstGeom prst="rect">
                <a:avLst/>
              </a:prstGeom>
              <a:blipFill>
                <a:blip r:embed="rId6"/>
                <a:stretch>
                  <a:fillRect t="-1802" r="-302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73C5E38-75CE-7EE6-2388-A3E1AEAD064B}"/>
              </a:ext>
            </a:extLst>
          </p:cNvPr>
          <p:cNvSpPr txBox="1"/>
          <p:nvPr/>
        </p:nvSpPr>
        <p:spPr>
          <a:xfrm>
            <a:off x="171875" y="2630370"/>
            <a:ext cx="193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venir Next LT Pro Light"/>
              </a:rPr>
              <a:t>Modify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2FBC89-0D95-4C17-5ADD-1FED68723115}"/>
              </a:ext>
            </a:extLst>
          </p:cNvPr>
          <p:cNvCxnSpPr>
            <a:cxnSpLocks/>
          </p:cNvCxnSpPr>
          <p:nvPr/>
        </p:nvCxnSpPr>
        <p:spPr>
          <a:xfrm flipH="1" flipV="1">
            <a:off x="6776380" y="4830421"/>
            <a:ext cx="664013" cy="40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3F1CFA-41AD-6A4B-8646-C02DB0137E2A}"/>
              </a:ext>
            </a:extLst>
          </p:cNvPr>
          <p:cNvSpPr txBox="1"/>
          <p:nvPr/>
        </p:nvSpPr>
        <p:spPr>
          <a:xfrm>
            <a:off x="7252125" y="5357595"/>
            <a:ext cx="193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Data noise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B3D141-63FA-A25E-6EF6-6F0D004EA6C0}"/>
              </a:ext>
            </a:extLst>
          </p:cNvPr>
          <p:cNvSpPr txBox="1"/>
          <p:nvPr/>
        </p:nvSpPr>
        <p:spPr>
          <a:xfrm>
            <a:off x="2738070" y="5398419"/>
            <a:ext cx="2329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Avenir Next LT Pro Light"/>
              </a:rPr>
              <a:t>Model limitations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332F25-9E08-3634-04EA-7F01CF1689DB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2914650" y="4927600"/>
            <a:ext cx="988035" cy="470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D7F285-0FB9-5159-668F-9F4F5575433B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3902685" y="4927600"/>
            <a:ext cx="789965" cy="470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552F49-9FFE-7795-A463-E8D20E8997BF}"/>
              </a:ext>
            </a:extLst>
          </p:cNvPr>
          <p:cNvSpPr txBox="1"/>
          <p:nvPr/>
        </p:nvSpPr>
        <p:spPr>
          <a:xfrm>
            <a:off x="192401" y="5896287"/>
            <a:ext cx="9013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Avenir Next LT Pro Light"/>
              </a:rPr>
              <a:t>*Expectation operator lets us compute the </a:t>
            </a:r>
            <a:r>
              <a:rPr lang="en-US" sz="1200" b="1" dirty="0">
                <a:solidFill>
                  <a:prstClr val="black"/>
                </a:solidFill>
                <a:latin typeface="Avenir Next LT Pro Light"/>
              </a:rPr>
              <a:t>average behavior over all possible datasets.</a:t>
            </a:r>
          </a:p>
        </p:txBody>
      </p:sp>
    </p:spTree>
    <p:extLst>
      <p:ext uri="{BB962C8B-B14F-4D97-AF65-F5344CB8AC3E}">
        <p14:creationId xmlns:p14="http://schemas.microsoft.com/office/powerpoint/2010/main" val="2326600650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7C617-FEE7-AC2C-4735-FDE3848E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E540B9-E7F9-AB9A-4134-4EB71C52F138}"/>
              </a:ext>
            </a:extLst>
          </p:cNvPr>
          <p:cNvSpPr txBox="1">
            <a:spLocks/>
          </p:cNvSpPr>
          <p:nvPr/>
        </p:nvSpPr>
        <p:spPr>
          <a:xfrm>
            <a:off x="127425" y="12764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sterama"/>
                <a:ea typeface="+mj-ea"/>
                <a:cs typeface="+mj-cs"/>
              </a:rPr>
              <a:t>Bias-variance curves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2BA51F-01BC-F47F-A0B9-09A18BE6876C}"/>
              </a:ext>
            </a:extLst>
          </p:cNvPr>
          <p:cNvSpPr txBox="1"/>
          <p:nvPr/>
        </p:nvSpPr>
        <p:spPr>
          <a:xfrm>
            <a:off x="8436428" y="3353177"/>
            <a:ext cx="21717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venir Next LT Pro Light"/>
              </a:rPr>
              <a:t>Model complexity</a:t>
            </a:r>
            <a:endParaRPr lang="en-US" sz="1600" dirty="0"/>
          </a:p>
        </p:txBody>
      </p:sp>
      <p:pic>
        <p:nvPicPr>
          <p:cNvPr id="26" name="Graphic 25" descr="Arrow: Rotate left outline">
            <a:extLst>
              <a:ext uri="{FF2B5EF4-FFF2-40B4-BE49-F238E27FC236}">
                <a16:creationId xmlns:a16="http://schemas.microsoft.com/office/drawing/2014/main" id="{9B339A89-42D0-245D-AB66-3E3B333E7C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519665" flipH="1">
            <a:off x="10301260" y="3344798"/>
            <a:ext cx="458174" cy="42965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F45F279-9E5B-70D0-71EA-C12D6C922AA1}"/>
              </a:ext>
            </a:extLst>
          </p:cNvPr>
          <p:cNvSpPr txBox="1"/>
          <p:nvPr/>
        </p:nvSpPr>
        <p:spPr>
          <a:xfrm>
            <a:off x="10435504" y="3656980"/>
            <a:ext cx="1656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prstClr val="black"/>
                </a:solidFill>
                <a:latin typeface="Avenir Next LT Pro Light"/>
              </a:rPr>
              <a:t>Degree of polynomial</a:t>
            </a:r>
          </a:p>
          <a:p>
            <a:r>
              <a:rPr lang="en-US" sz="1100" b="1" dirty="0">
                <a:solidFill>
                  <a:prstClr val="black"/>
                </a:solidFill>
                <a:latin typeface="Avenir Next LT Pro Light"/>
              </a:rPr>
              <a:t>Depth of trees etc.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314826-8851-0213-40F3-99521134DFB0}"/>
              </a:ext>
            </a:extLst>
          </p:cNvPr>
          <p:cNvSpPr txBox="1"/>
          <p:nvPr/>
        </p:nvSpPr>
        <p:spPr>
          <a:xfrm>
            <a:off x="269033" y="1336877"/>
            <a:ext cx="61068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venir Next LT Pro Light"/>
              </a:rPr>
              <a:t>Bias</a:t>
            </a:r>
            <a:r>
              <a:rPr lang="en-US" dirty="0">
                <a:solidFill>
                  <a:prstClr val="black"/>
                </a:solidFill>
                <a:latin typeface="Avenir Next LT Pro Light"/>
              </a:rPr>
              <a:t> - systematic error caused by wrong assumptions in the model. High bias = model is too rigid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Avenir Next LT Pro Light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prstClr val="black"/>
                </a:solidFill>
                <a:latin typeface="Avenir Next LT Pro Light"/>
              </a:rPr>
              <a:t>Variance</a:t>
            </a:r>
            <a:r>
              <a:rPr lang="en-US" dirty="0">
                <a:solidFill>
                  <a:prstClr val="black"/>
                </a:solidFill>
                <a:latin typeface="Avenir Next LT Pro Light"/>
              </a:rPr>
              <a:t> - model changes too much depending on the training data. Model too flexible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E2B057-23BC-FC28-648C-85FA010D47CE}"/>
              </a:ext>
            </a:extLst>
          </p:cNvPr>
          <p:cNvSpPr txBox="1"/>
          <p:nvPr/>
        </p:nvSpPr>
        <p:spPr>
          <a:xfrm>
            <a:off x="170966" y="3692383"/>
            <a:ext cx="68394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0" hangingPunct="1">
              <a:buClrTx/>
              <a:buSzPts val="1400"/>
            </a:pPr>
            <a:r>
              <a:rPr lang="en-US" b="1" dirty="0">
                <a:solidFill>
                  <a:prstClr val="black"/>
                </a:solidFill>
                <a:latin typeface="Avenir Next LT Pro Light"/>
              </a:rPr>
              <a:t>Overfitting </a:t>
            </a:r>
            <a:r>
              <a:rPr lang="en-US" dirty="0">
                <a:solidFill>
                  <a:prstClr val="black"/>
                </a:solidFill>
                <a:latin typeface="Avenir Next LT Pro Light"/>
              </a:rPr>
              <a:t>- when a model learns the training data too well—including noise and random fluctuations, so it performs poorly on new, unseen data.</a:t>
            </a:r>
          </a:p>
          <a:p>
            <a:pPr algn="l" rtl="0" eaLnBrk="1" latinLnBrk="0" hangingPunct="1">
              <a:buClrTx/>
              <a:buSzPts val="1400"/>
            </a:pPr>
            <a:endParaRPr lang="en-US" dirty="0">
              <a:solidFill>
                <a:prstClr val="black"/>
              </a:solidFill>
              <a:latin typeface="Avenir Next LT Pro Light"/>
            </a:endParaRPr>
          </a:p>
          <a:p>
            <a:pPr marL="283464" indent="-283464" algn="l" rtl="0" eaLnBrk="1" latinLnBrk="0" hangingPunct="1">
              <a:buNone/>
            </a:pPr>
            <a:r>
              <a:rPr lang="en-US" b="1" dirty="0">
                <a:solidFill>
                  <a:prstClr val="black"/>
                </a:solidFill>
                <a:latin typeface="Avenir Next LT Pro Light"/>
              </a:rPr>
              <a:t>Underfitting </a:t>
            </a:r>
            <a:r>
              <a:rPr lang="en-US" dirty="0">
                <a:solidFill>
                  <a:prstClr val="black"/>
                </a:solidFill>
                <a:latin typeface="Avenir Next LT Pro Light"/>
              </a:rPr>
              <a:t>- when a model is too simple to capture the underlying pattern in the data, resulting in poor performance on both training and unseen data.</a:t>
            </a:r>
          </a:p>
        </p:txBody>
      </p:sp>
      <p:pic>
        <p:nvPicPr>
          <p:cNvPr id="1028" name="Picture 4" descr="What is Bias-Variance Tradeoff? | Towards Data Science">
            <a:extLst>
              <a:ext uri="{FF2B5EF4-FFF2-40B4-BE49-F238E27FC236}">
                <a16:creationId xmlns:a16="http://schemas.microsoft.com/office/drawing/2014/main" id="{967B43B3-28DC-5426-FF6A-66DC0A715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373" y="4043533"/>
            <a:ext cx="2171700" cy="208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The diagram illustrates a relationship where as model complexity increases, the total error decreases, but bias also increases, suggesting a trade-off between bias and variance in model performance.&#10;&#10;AI-generated content may be incorrect.">
            <a:extLst>
              <a:ext uri="{FF2B5EF4-FFF2-40B4-BE49-F238E27FC236}">
                <a16:creationId xmlns:a16="http://schemas.microsoft.com/office/drawing/2014/main" id="{FD3EC6A5-C845-60EA-EB23-3C1BB96BF4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84"/>
          <a:stretch>
            <a:fillRect/>
          </a:stretch>
        </p:blipFill>
        <p:spPr>
          <a:xfrm>
            <a:off x="6458443" y="55684"/>
            <a:ext cx="5733557" cy="329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58903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B20EF-99B2-D1E0-F3F1-E25B88FD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7DC752-A881-E494-EB1D-6D51BDE5F5DA}"/>
              </a:ext>
            </a:extLst>
          </p:cNvPr>
          <p:cNvSpPr txBox="1">
            <a:spLocks/>
          </p:cNvSpPr>
          <p:nvPr/>
        </p:nvSpPr>
        <p:spPr>
          <a:xfrm>
            <a:off x="127425" y="12764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ysClr val="windowText" lastClr="000000"/>
                </a:solidFill>
                <a:latin typeface="Posterama"/>
              </a:rPr>
              <a:t>Diagnostics</a:t>
            </a:r>
            <a:endParaRPr kumimoji="0" lang="en-US" sz="3200" b="1" i="0" u="none" strike="noStrike" kern="1200" cap="all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sterama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91C02E-E269-243D-DAA6-464368FA2BCF}"/>
              </a:ext>
            </a:extLst>
          </p:cNvPr>
          <p:cNvSpPr txBox="1"/>
          <p:nvPr/>
        </p:nvSpPr>
        <p:spPr>
          <a:xfrm>
            <a:off x="440388" y="4915682"/>
            <a:ext cx="9147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400"/>
            </a:pPr>
            <a:r>
              <a:rPr lang="en-US" dirty="0">
                <a:solidFill>
                  <a:prstClr val="black"/>
                </a:solidFill>
                <a:latin typeface="Avenir Next LT Pro Light"/>
              </a:rPr>
              <a:t>https://github.com/DDursun/Overfit_ANNs_diagnosis</a:t>
            </a:r>
          </a:p>
        </p:txBody>
      </p:sp>
      <p:pic>
        <p:nvPicPr>
          <p:cNvPr id="7" name="Picture 6" descr="The diagram illustrates a relationship where as model complexity increases, the total error decreases, but bias also increases, suggesting a trade-off between bias and variance in model performance.&#10;&#10;AI-generated content may be incorrect.">
            <a:extLst>
              <a:ext uri="{FF2B5EF4-FFF2-40B4-BE49-F238E27FC236}">
                <a16:creationId xmlns:a16="http://schemas.microsoft.com/office/drawing/2014/main" id="{3F619911-6B4A-F0FF-50C9-DE5E4506AE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84"/>
          <a:stretch>
            <a:fillRect/>
          </a:stretch>
        </p:blipFill>
        <p:spPr>
          <a:xfrm>
            <a:off x="306410" y="1442949"/>
            <a:ext cx="4809617" cy="2766115"/>
          </a:xfrm>
          <a:prstGeom prst="rect">
            <a:avLst/>
          </a:prstGeom>
        </p:spPr>
      </p:pic>
      <p:pic>
        <p:nvPicPr>
          <p:cNvPr id="5122" name="Picture 2" descr="Overfitting | Machine Learning | Google for Developers">
            <a:extLst>
              <a:ext uri="{FF2B5EF4-FFF2-40B4-BE49-F238E27FC236}">
                <a16:creationId xmlns:a16="http://schemas.microsoft.com/office/drawing/2014/main" id="{B8C4A358-3101-B9A9-B473-E8197F6CB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930" y="1572986"/>
            <a:ext cx="5751084" cy="281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966095"/>
      </p:ext>
    </p:extLst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67B3-56BA-7980-BA22-91A3B30F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B14ADE-A90A-3FF1-709D-B21F34CDDECC}"/>
              </a:ext>
            </a:extLst>
          </p:cNvPr>
          <p:cNvSpPr txBox="1">
            <a:spLocks/>
          </p:cNvSpPr>
          <p:nvPr/>
        </p:nvSpPr>
        <p:spPr>
          <a:xfrm>
            <a:off x="295341" y="88363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Validating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5C95C-882A-D39A-4BC7-8514FC16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16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F9073C-5A71-7D46-C0F3-FE7D9DAA6451}"/>
              </a:ext>
            </a:extLst>
          </p:cNvPr>
          <p:cNvSpPr txBox="1"/>
          <p:nvPr/>
        </p:nvSpPr>
        <p:spPr>
          <a:xfrm>
            <a:off x="1440695" y="1687375"/>
            <a:ext cx="175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Train-test split</a:t>
            </a:r>
            <a:endParaRPr lang="en-US" sz="1800" dirty="0">
              <a:latin typeface="Avenir Next LT Pro" panose="020B0504020202020204" pitchFamily="34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6498C56-7D61-FCCB-695C-4FBAA480E247}"/>
              </a:ext>
            </a:extLst>
          </p:cNvPr>
          <p:cNvSpPr/>
          <p:nvPr/>
        </p:nvSpPr>
        <p:spPr>
          <a:xfrm>
            <a:off x="4022271" y="2146409"/>
            <a:ext cx="288471" cy="2590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E09E5F7-22C5-12F7-7A2C-54EB4E59DDEA}"/>
              </a:ext>
            </a:extLst>
          </p:cNvPr>
          <p:cNvSpPr/>
          <p:nvPr/>
        </p:nvSpPr>
        <p:spPr>
          <a:xfrm>
            <a:off x="4057376" y="4807966"/>
            <a:ext cx="218260" cy="800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4B158-A32D-6D0C-143D-B491AF539869}"/>
              </a:ext>
            </a:extLst>
          </p:cNvPr>
          <p:cNvSpPr txBox="1"/>
          <p:nvPr/>
        </p:nvSpPr>
        <p:spPr>
          <a:xfrm>
            <a:off x="4407652" y="3257143"/>
            <a:ext cx="745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DC091-F6D9-3700-4F7C-2151EAD581D3}"/>
              </a:ext>
            </a:extLst>
          </p:cNvPr>
          <p:cNvSpPr txBox="1"/>
          <p:nvPr/>
        </p:nvSpPr>
        <p:spPr>
          <a:xfrm>
            <a:off x="4472353" y="5023350"/>
            <a:ext cx="854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Test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EFC26D-A5B7-E170-0FBD-21A8BED21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7718" y="2146409"/>
            <a:ext cx="2975298" cy="3507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F46DC0-5BA0-10EA-8F61-4A5A84A01E0B}"/>
              </a:ext>
            </a:extLst>
          </p:cNvPr>
          <p:cNvSpPr txBox="1"/>
          <p:nvPr/>
        </p:nvSpPr>
        <p:spPr>
          <a:xfrm>
            <a:off x="6730054" y="1570218"/>
            <a:ext cx="2403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Train-Validate-Test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8D2EBB-1131-350A-5B98-FD7BF7D52FB1}"/>
              </a:ext>
            </a:extLst>
          </p:cNvPr>
          <p:cNvSpPr txBox="1"/>
          <p:nvPr/>
        </p:nvSpPr>
        <p:spPr>
          <a:xfrm>
            <a:off x="295341" y="736725"/>
            <a:ext cx="888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Purpose of splitting data is model evaluation. Using your test set for improving your training performance is kind of cheating. </a:t>
            </a:r>
            <a:endParaRPr lang="en-US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682B1F1F-E945-3E8F-7AC7-E49E9D012B56}"/>
              </a:ext>
            </a:extLst>
          </p:cNvPr>
          <p:cNvSpPr/>
          <p:nvPr/>
        </p:nvSpPr>
        <p:spPr>
          <a:xfrm>
            <a:off x="9352490" y="2146711"/>
            <a:ext cx="288471" cy="17595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80D14492-02CB-FA09-E8C1-8C3EC907B27C}"/>
              </a:ext>
            </a:extLst>
          </p:cNvPr>
          <p:cNvSpPr/>
          <p:nvPr/>
        </p:nvSpPr>
        <p:spPr>
          <a:xfrm>
            <a:off x="9387595" y="4808268"/>
            <a:ext cx="218260" cy="800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18E82D-562E-1C09-C16C-FA42D92F6F1B}"/>
              </a:ext>
            </a:extLst>
          </p:cNvPr>
          <p:cNvSpPr txBox="1"/>
          <p:nvPr/>
        </p:nvSpPr>
        <p:spPr>
          <a:xfrm>
            <a:off x="9731230" y="2841807"/>
            <a:ext cx="745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90001B-F3E1-0D2E-09CF-0BA526A4B3FB}"/>
              </a:ext>
            </a:extLst>
          </p:cNvPr>
          <p:cNvSpPr txBox="1"/>
          <p:nvPr/>
        </p:nvSpPr>
        <p:spPr>
          <a:xfrm>
            <a:off x="9804833" y="5030129"/>
            <a:ext cx="8545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Test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5A6718D-6F17-1A7D-BB3B-8A5A42113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7937" y="2146711"/>
            <a:ext cx="2975298" cy="3507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Right Brace 25">
            <a:extLst>
              <a:ext uri="{FF2B5EF4-FFF2-40B4-BE49-F238E27FC236}">
                <a16:creationId xmlns:a16="http://schemas.microsoft.com/office/drawing/2014/main" id="{15C9FCD2-8F7E-69FA-C2EA-B45D38B8EDF0}"/>
              </a:ext>
            </a:extLst>
          </p:cNvPr>
          <p:cNvSpPr/>
          <p:nvPr/>
        </p:nvSpPr>
        <p:spPr>
          <a:xfrm>
            <a:off x="9387595" y="3972048"/>
            <a:ext cx="218260" cy="800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244D3A-4801-810C-8BAA-D7C4DB4A712E}"/>
              </a:ext>
            </a:extLst>
          </p:cNvPr>
          <p:cNvSpPr txBox="1"/>
          <p:nvPr/>
        </p:nvSpPr>
        <p:spPr>
          <a:xfrm>
            <a:off x="9780215" y="4187432"/>
            <a:ext cx="1312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Validate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6183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BE07-DA96-CE2F-9E5B-1E829F22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589936-A9E1-D277-7D48-A95942D17448}"/>
              </a:ext>
            </a:extLst>
          </p:cNvPr>
          <p:cNvSpPr txBox="1">
            <a:spLocks/>
          </p:cNvSpPr>
          <p:nvPr/>
        </p:nvSpPr>
        <p:spPr>
          <a:xfrm>
            <a:off x="618437" y="506097"/>
            <a:ext cx="8919416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411F7-8359-1B1B-7669-574E4169F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17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C4FBB1-E357-8C7C-B269-8207575602E7}"/>
              </a:ext>
            </a:extLst>
          </p:cNvPr>
          <p:cNvSpPr txBox="1"/>
          <p:nvPr/>
        </p:nvSpPr>
        <p:spPr>
          <a:xfrm>
            <a:off x="380927" y="5851501"/>
            <a:ext cx="38040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Next LT Pro" panose="020B0504020202020204" pitchFamily="34" charset="0"/>
              </a:rPr>
              <a:t>Train-test-validation split</a:t>
            </a:r>
          </a:p>
          <a:p>
            <a:endParaRPr lang="en-US" sz="1800" dirty="0">
              <a:latin typeface="Avenir Next LT Pro" panose="020B05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29F67-A3A7-DF23-6952-E0DE9B58BC7D}"/>
              </a:ext>
            </a:extLst>
          </p:cNvPr>
          <p:cNvSpPr txBox="1"/>
          <p:nvPr/>
        </p:nvSpPr>
        <p:spPr>
          <a:xfrm>
            <a:off x="6304796" y="1912511"/>
            <a:ext cx="5490563" cy="17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400" dirty="0">
                <a:latin typeface="Avenir Next LT Pro" panose="020B0504020202020204" pitchFamily="34" charset="0"/>
              </a:rPr>
              <a:t>The result can be highly dependent on that specific split.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400" dirty="0">
                <a:latin typeface="Avenir Next LT Pro" panose="020B0504020202020204" pitchFamily="34" charset="0"/>
              </a:rPr>
              <a:t>With small datasets, the variance of the estimate can be large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400" dirty="0">
                <a:latin typeface="Avenir Next LT Pro" panose="020B0504020202020204" pitchFamily="34" charset="0"/>
              </a:rPr>
              <a:t>It gives one performance estimate instead of a distribution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latin typeface="Avenir Next LT Pro" panose="020B0504020202020204" pitchFamily="34" charset="0"/>
              </a:rPr>
              <a:t>-     Some samples may never be used for training or testing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DD0A76-48BD-CB9F-93A1-6C912C518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153"/>
          <a:stretch>
            <a:fillRect/>
          </a:stretch>
        </p:blipFill>
        <p:spPr>
          <a:xfrm>
            <a:off x="246355" y="1798368"/>
            <a:ext cx="2975298" cy="19937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0AA7E2-4875-05F1-BE63-9B295F4D6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13" b="22716"/>
          <a:stretch>
            <a:fillRect/>
          </a:stretch>
        </p:blipFill>
        <p:spPr>
          <a:xfrm>
            <a:off x="295341" y="3960202"/>
            <a:ext cx="2975298" cy="756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F9E16-7EC0-B90E-4406-4C1E4B4752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76"/>
          <a:stretch>
            <a:fillRect/>
          </a:stretch>
        </p:blipFill>
        <p:spPr>
          <a:xfrm>
            <a:off x="295341" y="4979710"/>
            <a:ext cx="2975298" cy="793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0E8BE223-3ADF-850C-EB8F-35880F3C3C78}"/>
              </a:ext>
            </a:extLst>
          </p:cNvPr>
          <p:cNvSpPr/>
          <p:nvPr/>
        </p:nvSpPr>
        <p:spPr>
          <a:xfrm>
            <a:off x="3656101" y="1858238"/>
            <a:ext cx="288471" cy="187556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40883B9-8E35-7330-CC52-7498DF65EE5B}"/>
              </a:ext>
            </a:extLst>
          </p:cNvPr>
          <p:cNvSpPr/>
          <p:nvPr/>
        </p:nvSpPr>
        <p:spPr>
          <a:xfrm>
            <a:off x="3673112" y="5001628"/>
            <a:ext cx="218260" cy="800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981D09-C8B3-B5F6-0639-A94129781D68}"/>
              </a:ext>
            </a:extLst>
          </p:cNvPr>
          <p:cNvSpPr txBox="1"/>
          <p:nvPr/>
        </p:nvSpPr>
        <p:spPr>
          <a:xfrm>
            <a:off x="4016747" y="2553335"/>
            <a:ext cx="176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 (60-70%)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A09E9E-5024-9CAE-A27A-ECF7FB7584A4}"/>
              </a:ext>
            </a:extLst>
          </p:cNvPr>
          <p:cNvSpPr txBox="1"/>
          <p:nvPr/>
        </p:nvSpPr>
        <p:spPr>
          <a:xfrm>
            <a:off x="4065733" y="5217012"/>
            <a:ext cx="2329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Test (15-25%)</a:t>
            </a:r>
            <a:endParaRPr lang="en-US" dirty="0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2D736DB1-D480-5770-DE13-E4D4AA8DD7CB}"/>
              </a:ext>
            </a:extLst>
          </p:cNvPr>
          <p:cNvSpPr/>
          <p:nvPr/>
        </p:nvSpPr>
        <p:spPr>
          <a:xfrm>
            <a:off x="3699237" y="3945064"/>
            <a:ext cx="218260" cy="8001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FBB74E-556A-3B18-3268-8188E558DF9D}"/>
              </a:ext>
            </a:extLst>
          </p:cNvPr>
          <p:cNvSpPr txBox="1"/>
          <p:nvPr/>
        </p:nvSpPr>
        <p:spPr>
          <a:xfrm>
            <a:off x="4016747" y="4153814"/>
            <a:ext cx="2122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Validate (15-25%)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BE365-1E1C-E077-F698-8DEB476CDD17}"/>
              </a:ext>
            </a:extLst>
          </p:cNvPr>
          <p:cNvSpPr txBox="1"/>
          <p:nvPr/>
        </p:nvSpPr>
        <p:spPr>
          <a:xfrm>
            <a:off x="6304796" y="7037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is cool but 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34589212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CEB2-D011-3116-7669-1A36521FE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B0E5F27-ECE3-D818-5F45-E8851F374360}"/>
              </a:ext>
            </a:extLst>
          </p:cNvPr>
          <p:cNvSpPr txBox="1">
            <a:spLocks/>
          </p:cNvSpPr>
          <p:nvPr/>
        </p:nvSpPr>
        <p:spPr>
          <a:xfrm>
            <a:off x="295341" y="88363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Cross validation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8926F-3947-680E-B1D8-833F37F5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18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C2792C-4E45-56A2-C2ED-88BCAE79E458}"/>
              </a:ext>
            </a:extLst>
          </p:cNvPr>
          <p:cNvSpPr txBox="1"/>
          <p:nvPr/>
        </p:nvSpPr>
        <p:spPr>
          <a:xfrm>
            <a:off x="333442" y="838919"/>
            <a:ext cx="7795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venir Next LT Pro" panose="020B0504020202020204" pitchFamily="34" charset="0"/>
              </a:rPr>
              <a:t>K-fold cross validation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D865CA-8FF4-C804-F755-B08FF1E17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398" y="1572147"/>
            <a:ext cx="3544102" cy="3847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9D317E-39DB-2D01-515E-CF42DA14D1FE}"/>
              </a:ext>
            </a:extLst>
          </p:cNvPr>
          <p:cNvSpPr/>
          <p:nvPr/>
        </p:nvSpPr>
        <p:spPr>
          <a:xfrm>
            <a:off x="3902529" y="1572146"/>
            <a:ext cx="299357" cy="384785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580331-3C24-2EE7-7595-E776F7C94868}"/>
              </a:ext>
            </a:extLst>
          </p:cNvPr>
          <p:cNvSpPr/>
          <p:nvPr/>
        </p:nvSpPr>
        <p:spPr>
          <a:xfrm>
            <a:off x="5408625" y="1572146"/>
            <a:ext cx="299357" cy="73340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81650-7125-7492-3B32-E0246CB5F72F}"/>
              </a:ext>
            </a:extLst>
          </p:cNvPr>
          <p:cNvSpPr/>
          <p:nvPr/>
        </p:nvSpPr>
        <p:spPr>
          <a:xfrm>
            <a:off x="5413005" y="2334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D4E0ED-2BD7-86A5-6157-1FFFF2286BA8}"/>
              </a:ext>
            </a:extLst>
          </p:cNvPr>
          <p:cNvSpPr/>
          <p:nvPr/>
        </p:nvSpPr>
        <p:spPr>
          <a:xfrm>
            <a:off x="5408625" y="3115474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032DAC-A788-A6F2-3D57-9EBC809E8496}"/>
              </a:ext>
            </a:extLst>
          </p:cNvPr>
          <p:cNvSpPr/>
          <p:nvPr/>
        </p:nvSpPr>
        <p:spPr>
          <a:xfrm>
            <a:off x="5408625" y="3896810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EDD7E3-109B-9D69-B7BF-6BA416822E8C}"/>
              </a:ext>
            </a:extLst>
          </p:cNvPr>
          <p:cNvSpPr/>
          <p:nvPr/>
        </p:nvSpPr>
        <p:spPr>
          <a:xfrm>
            <a:off x="5408625" y="4678141"/>
            <a:ext cx="299357" cy="741855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BD2EF5-AC13-7DEB-913C-87B8FEDAB7F2}"/>
              </a:ext>
            </a:extLst>
          </p:cNvPr>
          <p:cNvSpPr/>
          <p:nvPr/>
        </p:nvSpPr>
        <p:spPr>
          <a:xfrm>
            <a:off x="6024181" y="1572146"/>
            <a:ext cx="299357" cy="73340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227BC1-3A81-913E-04B3-082A1D09FB0C}"/>
              </a:ext>
            </a:extLst>
          </p:cNvPr>
          <p:cNvSpPr/>
          <p:nvPr/>
        </p:nvSpPr>
        <p:spPr>
          <a:xfrm>
            <a:off x="6028561" y="2334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0D3CD4-19B1-4F9D-BEB1-9C0534BEC06D}"/>
              </a:ext>
            </a:extLst>
          </p:cNvPr>
          <p:cNvSpPr/>
          <p:nvPr/>
        </p:nvSpPr>
        <p:spPr>
          <a:xfrm>
            <a:off x="6024181" y="3115474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897FE8-0F97-1DAA-40DC-916939249295}"/>
              </a:ext>
            </a:extLst>
          </p:cNvPr>
          <p:cNvSpPr/>
          <p:nvPr/>
        </p:nvSpPr>
        <p:spPr>
          <a:xfrm>
            <a:off x="6024181" y="3896810"/>
            <a:ext cx="299357" cy="741855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464D80-E0B5-3203-29F5-E779FC6AB145}"/>
              </a:ext>
            </a:extLst>
          </p:cNvPr>
          <p:cNvSpPr/>
          <p:nvPr/>
        </p:nvSpPr>
        <p:spPr>
          <a:xfrm>
            <a:off x="6024181" y="4678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1F1E0A-C719-A387-48A1-A63F250F1B1C}"/>
              </a:ext>
            </a:extLst>
          </p:cNvPr>
          <p:cNvSpPr/>
          <p:nvPr/>
        </p:nvSpPr>
        <p:spPr>
          <a:xfrm>
            <a:off x="6562511" y="1572146"/>
            <a:ext cx="299357" cy="73340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377513-084C-DF8A-3FAC-69D3304719F5}"/>
              </a:ext>
            </a:extLst>
          </p:cNvPr>
          <p:cNvSpPr/>
          <p:nvPr/>
        </p:nvSpPr>
        <p:spPr>
          <a:xfrm>
            <a:off x="6566891" y="2334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94EA91-AC4E-1928-8CE9-A485185577E0}"/>
              </a:ext>
            </a:extLst>
          </p:cNvPr>
          <p:cNvSpPr/>
          <p:nvPr/>
        </p:nvSpPr>
        <p:spPr>
          <a:xfrm>
            <a:off x="6562511" y="3115474"/>
            <a:ext cx="299357" cy="741855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D416DC-42EC-4D06-91EA-00D61366385A}"/>
              </a:ext>
            </a:extLst>
          </p:cNvPr>
          <p:cNvSpPr/>
          <p:nvPr/>
        </p:nvSpPr>
        <p:spPr>
          <a:xfrm>
            <a:off x="6562511" y="3896810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EFACC4-2840-5F8D-DCD3-64CDA90262A0}"/>
              </a:ext>
            </a:extLst>
          </p:cNvPr>
          <p:cNvSpPr/>
          <p:nvPr/>
        </p:nvSpPr>
        <p:spPr>
          <a:xfrm>
            <a:off x="6562511" y="4678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50CBA4-A669-011F-17E2-190ED321926B}"/>
              </a:ext>
            </a:extLst>
          </p:cNvPr>
          <p:cNvSpPr/>
          <p:nvPr/>
        </p:nvSpPr>
        <p:spPr>
          <a:xfrm>
            <a:off x="7077495" y="1572146"/>
            <a:ext cx="299357" cy="73340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49E190-703A-A35C-3AEA-400EAA869B44}"/>
              </a:ext>
            </a:extLst>
          </p:cNvPr>
          <p:cNvSpPr/>
          <p:nvPr/>
        </p:nvSpPr>
        <p:spPr>
          <a:xfrm>
            <a:off x="7081875" y="2334141"/>
            <a:ext cx="299357" cy="741855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794177-8D1E-1F3C-5C3F-8BB148046B92}"/>
              </a:ext>
            </a:extLst>
          </p:cNvPr>
          <p:cNvSpPr/>
          <p:nvPr/>
        </p:nvSpPr>
        <p:spPr>
          <a:xfrm>
            <a:off x="7077495" y="3115474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161725-425A-132B-70A2-70418A1CFDF2}"/>
              </a:ext>
            </a:extLst>
          </p:cNvPr>
          <p:cNvSpPr/>
          <p:nvPr/>
        </p:nvSpPr>
        <p:spPr>
          <a:xfrm>
            <a:off x="7077495" y="3896810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027F8D-BB7A-0BC6-63AE-94D8A9BB4ACD}"/>
              </a:ext>
            </a:extLst>
          </p:cNvPr>
          <p:cNvSpPr/>
          <p:nvPr/>
        </p:nvSpPr>
        <p:spPr>
          <a:xfrm>
            <a:off x="7077495" y="4678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0F6CBA-A734-4CEE-2F8A-59A502C81F1C}"/>
              </a:ext>
            </a:extLst>
          </p:cNvPr>
          <p:cNvSpPr/>
          <p:nvPr/>
        </p:nvSpPr>
        <p:spPr>
          <a:xfrm>
            <a:off x="7588099" y="1572146"/>
            <a:ext cx="299357" cy="733404"/>
          </a:xfrm>
          <a:prstGeom prst="rect">
            <a:avLst/>
          </a:prstGeom>
          <a:solidFill>
            <a:srgbClr val="C00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DE1DC7-673B-FD40-7915-9464EBA925C1}"/>
              </a:ext>
            </a:extLst>
          </p:cNvPr>
          <p:cNvSpPr/>
          <p:nvPr/>
        </p:nvSpPr>
        <p:spPr>
          <a:xfrm>
            <a:off x="7592479" y="2334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FD72F7-19DD-1F94-F353-8760141F94F7}"/>
              </a:ext>
            </a:extLst>
          </p:cNvPr>
          <p:cNvSpPr/>
          <p:nvPr/>
        </p:nvSpPr>
        <p:spPr>
          <a:xfrm>
            <a:off x="7588099" y="3115474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C9A19F-C27F-8DEC-D0F3-5088EE3DFDBD}"/>
              </a:ext>
            </a:extLst>
          </p:cNvPr>
          <p:cNvSpPr/>
          <p:nvPr/>
        </p:nvSpPr>
        <p:spPr>
          <a:xfrm>
            <a:off x="7588099" y="3896810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BDB3E6-903B-1D0E-27DE-882D62199328}"/>
              </a:ext>
            </a:extLst>
          </p:cNvPr>
          <p:cNvSpPr/>
          <p:nvPr/>
        </p:nvSpPr>
        <p:spPr>
          <a:xfrm>
            <a:off x="7588099" y="4678141"/>
            <a:ext cx="299357" cy="74185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72D069-49E7-DD38-EF21-62DDB659ABE9}"/>
              </a:ext>
            </a:extLst>
          </p:cNvPr>
          <p:cNvSpPr txBox="1"/>
          <p:nvPr/>
        </p:nvSpPr>
        <p:spPr>
          <a:xfrm rot="16200000">
            <a:off x="4818697" y="4785659"/>
            <a:ext cx="10070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venir Next LT Pro" panose="020B0504020202020204" pitchFamily="34" charset="0"/>
              </a:rPr>
              <a:t>validate</a:t>
            </a:r>
            <a:endParaRPr lang="en-US" sz="11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1BD8BE4-0102-2637-2AAE-94C11FC51398}"/>
              </a:ext>
            </a:extLst>
          </p:cNvPr>
          <p:cNvSpPr/>
          <p:nvPr/>
        </p:nvSpPr>
        <p:spPr>
          <a:xfrm>
            <a:off x="3905250" y="5618885"/>
            <a:ext cx="299357" cy="50602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09A479-AD3C-BFB6-41DA-5B87C8B06885}"/>
              </a:ext>
            </a:extLst>
          </p:cNvPr>
          <p:cNvSpPr txBox="1"/>
          <p:nvPr/>
        </p:nvSpPr>
        <p:spPr>
          <a:xfrm rot="16200000">
            <a:off x="5435828" y="4013871"/>
            <a:ext cx="10070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venir Next LT Pro" panose="020B0504020202020204" pitchFamily="34" charset="0"/>
              </a:rPr>
              <a:t>validate</a:t>
            </a:r>
            <a:endParaRPr lang="en-US" sz="11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54BDA4-3558-D873-C2C8-6CDD50558C3F}"/>
              </a:ext>
            </a:extLst>
          </p:cNvPr>
          <p:cNvSpPr txBox="1"/>
          <p:nvPr/>
        </p:nvSpPr>
        <p:spPr>
          <a:xfrm rot="16200000">
            <a:off x="5982918" y="3242731"/>
            <a:ext cx="10070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venir Next LT Pro" panose="020B0504020202020204" pitchFamily="34" charset="0"/>
              </a:rPr>
              <a:t>validate</a:t>
            </a:r>
            <a:endParaRPr lang="en-US" sz="11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5089EC-9B24-A254-A2AE-4EB2BAEB0D00}"/>
              </a:ext>
            </a:extLst>
          </p:cNvPr>
          <p:cNvSpPr txBox="1"/>
          <p:nvPr/>
        </p:nvSpPr>
        <p:spPr>
          <a:xfrm rot="16200000">
            <a:off x="6470531" y="2481137"/>
            <a:ext cx="10070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venir Next LT Pro" panose="020B0504020202020204" pitchFamily="34" charset="0"/>
              </a:rPr>
              <a:t>validate</a:t>
            </a:r>
            <a:endParaRPr lang="en-US" sz="11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6A5104-6637-80B1-0C59-F29387AEB4B6}"/>
              </a:ext>
            </a:extLst>
          </p:cNvPr>
          <p:cNvSpPr txBox="1"/>
          <p:nvPr/>
        </p:nvSpPr>
        <p:spPr>
          <a:xfrm rot="16200000">
            <a:off x="7108801" y="1781421"/>
            <a:ext cx="8152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Avenir Next LT Pro" panose="020B0504020202020204" pitchFamily="34" charset="0"/>
              </a:rPr>
              <a:t>validate</a:t>
            </a:r>
            <a:endParaRPr lang="en-US" sz="11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B15AB4-507C-0C96-B25E-1356EA2B2FD0}"/>
              </a:ext>
            </a:extLst>
          </p:cNvPr>
          <p:cNvSpPr txBox="1"/>
          <p:nvPr/>
        </p:nvSpPr>
        <p:spPr>
          <a:xfrm>
            <a:off x="4231127" y="5751452"/>
            <a:ext cx="61123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venir Next LT Pro" panose="020B0504020202020204" pitchFamily="34" charset="0"/>
              </a:rPr>
              <a:t>You can also hold out small fraction for blind testing</a:t>
            </a:r>
            <a:endParaRPr lang="en-US" sz="12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34C5909-E3F7-2EDA-AB2A-736D65368A7A}"/>
              </a:ext>
            </a:extLst>
          </p:cNvPr>
          <p:cNvCxnSpPr/>
          <p:nvPr/>
        </p:nvCxnSpPr>
        <p:spPr>
          <a:xfrm flipV="1">
            <a:off x="5581220" y="1135889"/>
            <a:ext cx="0" cy="321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AA4E432-4183-40C8-4E25-074922AC814E}"/>
              </a:ext>
            </a:extLst>
          </p:cNvPr>
          <p:cNvCxnSpPr/>
          <p:nvPr/>
        </p:nvCxnSpPr>
        <p:spPr>
          <a:xfrm flipV="1">
            <a:off x="6187550" y="1135889"/>
            <a:ext cx="0" cy="321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3DFCDAE-CD4B-DBDE-DF2B-12FD6F891F5E}"/>
              </a:ext>
            </a:extLst>
          </p:cNvPr>
          <p:cNvCxnSpPr/>
          <p:nvPr/>
        </p:nvCxnSpPr>
        <p:spPr>
          <a:xfrm flipV="1">
            <a:off x="6738425" y="1135889"/>
            <a:ext cx="0" cy="321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B3D22D2-D6B9-9FC6-D637-E6709C7E759F}"/>
              </a:ext>
            </a:extLst>
          </p:cNvPr>
          <p:cNvCxnSpPr/>
          <p:nvPr/>
        </p:nvCxnSpPr>
        <p:spPr>
          <a:xfrm flipV="1">
            <a:off x="7227173" y="1135889"/>
            <a:ext cx="0" cy="321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E6CD2ED-1578-5F12-F9DB-A2207D5BCB01}"/>
              </a:ext>
            </a:extLst>
          </p:cNvPr>
          <p:cNvCxnSpPr/>
          <p:nvPr/>
        </p:nvCxnSpPr>
        <p:spPr>
          <a:xfrm flipV="1">
            <a:off x="7737777" y="1135889"/>
            <a:ext cx="0" cy="321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B83633C-3F98-6A6E-2CC6-FA0641B18863}"/>
              </a:ext>
            </a:extLst>
          </p:cNvPr>
          <p:cNvSpPr txBox="1"/>
          <p:nvPr/>
        </p:nvSpPr>
        <p:spPr>
          <a:xfrm>
            <a:off x="5249544" y="774513"/>
            <a:ext cx="689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venir Next LT Pro" panose="020B0504020202020204" pitchFamily="34" charset="0"/>
              </a:rPr>
              <a:t>error</a:t>
            </a:r>
            <a:r>
              <a:rPr lang="en-US" sz="1200" baseline="-25000" dirty="0">
                <a:latin typeface="Avenir Next LT Pro" panose="020B0504020202020204" pitchFamily="34" charset="0"/>
              </a:rPr>
              <a:t>1</a:t>
            </a:r>
            <a:endParaRPr 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8ED93B-1B04-4B07-8260-22157E767117}"/>
              </a:ext>
            </a:extLst>
          </p:cNvPr>
          <p:cNvSpPr txBox="1"/>
          <p:nvPr/>
        </p:nvSpPr>
        <p:spPr>
          <a:xfrm>
            <a:off x="5907735" y="771073"/>
            <a:ext cx="689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venir Next LT Pro" panose="020B0504020202020204" pitchFamily="34" charset="0"/>
              </a:rPr>
              <a:t>error</a:t>
            </a:r>
            <a:r>
              <a:rPr lang="en-US" sz="1200" baseline="-25000" dirty="0">
                <a:latin typeface="Avenir Next LT Pro" panose="020B0504020202020204" pitchFamily="34" charset="0"/>
              </a:rPr>
              <a:t>2</a:t>
            </a:r>
            <a:endParaRPr lang="en-US" sz="12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84874E7-BB3B-8D95-7B09-AE68E749EEAF}"/>
              </a:ext>
            </a:extLst>
          </p:cNvPr>
          <p:cNvSpPr txBox="1"/>
          <p:nvPr/>
        </p:nvSpPr>
        <p:spPr>
          <a:xfrm>
            <a:off x="6498349" y="777131"/>
            <a:ext cx="689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venir Next LT Pro" panose="020B0504020202020204" pitchFamily="34" charset="0"/>
              </a:rPr>
              <a:t>error</a:t>
            </a:r>
            <a:r>
              <a:rPr lang="en-US" sz="1200" baseline="-25000" dirty="0">
                <a:latin typeface="Avenir Next LT Pro" panose="020B0504020202020204" pitchFamily="34" charset="0"/>
              </a:rPr>
              <a:t>3</a:t>
            </a:r>
            <a:endParaRPr 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8704A2-4937-8F7A-3DF1-DF4B87089953}"/>
              </a:ext>
            </a:extLst>
          </p:cNvPr>
          <p:cNvSpPr txBox="1"/>
          <p:nvPr/>
        </p:nvSpPr>
        <p:spPr>
          <a:xfrm>
            <a:off x="6988540" y="771688"/>
            <a:ext cx="689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venir Next LT Pro" panose="020B0504020202020204" pitchFamily="34" charset="0"/>
              </a:rPr>
              <a:t>error</a:t>
            </a:r>
            <a:r>
              <a:rPr lang="en-US" sz="1200" baseline="-25000" dirty="0">
                <a:latin typeface="Avenir Next LT Pro" panose="020B0504020202020204" pitchFamily="34" charset="0"/>
              </a:rPr>
              <a:t>4</a:t>
            </a:r>
            <a:endParaRPr 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00A591-A8AD-91B3-1099-0D8F83EFF5C0}"/>
              </a:ext>
            </a:extLst>
          </p:cNvPr>
          <p:cNvSpPr txBox="1"/>
          <p:nvPr/>
        </p:nvSpPr>
        <p:spPr>
          <a:xfrm>
            <a:off x="7514893" y="771688"/>
            <a:ext cx="6898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venir Next LT Pro" panose="020B0504020202020204" pitchFamily="34" charset="0"/>
              </a:rPr>
              <a:t>error</a:t>
            </a:r>
            <a:r>
              <a:rPr lang="en-US" sz="1200" baseline="-25000" dirty="0">
                <a:latin typeface="Avenir Next LT Pro" panose="020B0504020202020204" pitchFamily="34" charset="0"/>
              </a:rPr>
              <a:t>5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DDF2632-1BDE-0EE1-8649-4C3CA372528B}"/>
                  </a:ext>
                </a:extLst>
              </p:cNvPr>
              <p:cNvSpPr txBox="1"/>
              <p:nvPr/>
            </p:nvSpPr>
            <p:spPr>
              <a:xfrm>
                <a:off x="8710017" y="1336650"/>
                <a:ext cx="2245743" cy="6957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Avg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error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1600" i="0" smtClean="0">
                                  <a:latin typeface="Cambria Math" panose="02040503050406030204" pitchFamily="18" charset="0"/>
                                </a:rPr>
                                <m:t>Error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DDF2632-1BDE-0EE1-8649-4C3CA3725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017" y="1336650"/>
                <a:ext cx="2245743" cy="6957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7F5B831E-3883-8AC6-3049-8F3DEB71CF05}"/>
              </a:ext>
            </a:extLst>
          </p:cNvPr>
          <p:cNvSpPr txBox="1"/>
          <p:nvPr/>
        </p:nvSpPr>
        <p:spPr>
          <a:xfrm>
            <a:off x="8168770" y="2713251"/>
            <a:ext cx="4126656" cy="1292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venir Next LT Pro" panose="020B0504020202020204" pitchFamily="34" charset="0"/>
              </a:rPr>
              <a:t>No/little dependency on split.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venir Next LT Pro" panose="020B0504020202020204" pitchFamily="34" charset="0"/>
              </a:rPr>
              <a:t>Distribution of performance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venir Next LT Pro" panose="020B0504020202020204" pitchFamily="34" charset="0"/>
              </a:rPr>
              <a:t>All samples used for train/val.</a:t>
            </a:r>
          </a:p>
        </p:txBody>
      </p:sp>
    </p:spTree>
    <p:extLst>
      <p:ext uri="{BB962C8B-B14F-4D97-AF65-F5344CB8AC3E}">
        <p14:creationId xmlns:p14="http://schemas.microsoft.com/office/powerpoint/2010/main" val="12459803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30A54-FAC3-0BEF-48DB-5E3AEEF5A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41475E1-B6C4-903B-638A-6D206FDAF32B}"/>
              </a:ext>
            </a:extLst>
          </p:cNvPr>
          <p:cNvSpPr txBox="1">
            <a:spLocks/>
          </p:cNvSpPr>
          <p:nvPr/>
        </p:nvSpPr>
        <p:spPr>
          <a:xfrm>
            <a:off x="295341" y="88363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Hyperparameter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B9894-8BC4-5181-81B9-0715B734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19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116D38-5505-5C68-24B2-55CA7310B7A0}"/>
              </a:ext>
            </a:extLst>
          </p:cNvPr>
          <p:cNvSpPr txBox="1"/>
          <p:nvPr/>
        </p:nvSpPr>
        <p:spPr>
          <a:xfrm>
            <a:off x="295341" y="738534"/>
            <a:ext cx="7795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Looking for best settings for your decision tree?</a:t>
            </a:r>
            <a:endParaRPr lang="en-US" sz="1800" dirty="0">
              <a:latin typeface="Avenir Next LT Pro" panose="020B0504020202020204" pitchFamily="34" charset="0"/>
            </a:endParaRPr>
          </a:p>
          <a:p>
            <a:endParaRPr lang="en-US" sz="1800" dirty="0">
              <a:latin typeface="Avenir Next LT Pro" panose="020B0504020202020204" pitchFamily="34" charset="0"/>
            </a:endParaRPr>
          </a:p>
        </p:txBody>
      </p:sp>
      <p:pic>
        <p:nvPicPr>
          <p:cNvPr id="3" name="Picture 2" descr="The image illustrates a process for optimizing a model using a parameter grid, detailing steps such as parameter selection, k-fold cross-validation, and identifying the best combination based on mean cross-validation scores.&#10;&#10;AI-generated content may be incorrect.">
            <a:extLst>
              <a:ext uri="{FF2B5EF4-FFF2-40B4-BE49-F238E27FC236}">
                <a16:creationId xmlns:a16="http://schemas.microsoft.com/office/drawing/2014/main" id="{5C83FF5E-BA56-F889-CE49-5765C2411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41" y="1290597"/>
            <a:ext cx="5510319" cy="4498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20987A-27EE-6C37-6502-EBEED589AB72}"/>
              </a:ext>
            </a:extLst>
          </p:cNvPr>
          <p:cNvSpPr txBox="1"/>
          <p:nvPr/>
        </p:nvSpPr>
        <p:spPr>
          <a:xfrm>
            <a:off x="6281361" y="12905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Grid search is exhaustive, scales exponentially with number of hyperparameters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5FA26E-7B83-E1CD-AFC7-1AC7F6C2D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664426"/>
              </p:ext>
            </p:extLst>
          </p:nvPr>
        </p:nvGraphicFramePr>
        <p:xfrm>
          <a:off x="6386342" y="2131094"/>
          <a:ext cx="4652446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08388">
                  <a:extLst>
                    <a:ext uri="{9D8B030D-6E8A-4147-A177-3AD203B41FA5}">
                      <a16:colId xmlns:a16="http://schemas.microsoft.com/office/drawing/2014/main" val="3037524709"/>
                    </a:ext>
                  </a:extLst>
                </a:gridCol>
                <a:gridCol w="1293242">
                  <a:extLst>
                    <a:ext uri="{9D8B030D-6E8A-4147-A177-3AD203B41FA5}">
                      <a16:colId xmlns:a16="http://schemas.microsoft.com/office/drawing/2014/main" val="1934275145"/>
                    </a:ext>
                  </a:extLst>
                </a:gridCol>
                <a:gridCol w="1550816">
                  <a:extLst>
                    <a:ext uri="{9D8B030D-6E8A-4147-A177-3AD203B41FA5}">
                      <a16:colId xmlns:a16="http://schemas.microsoft.com/office/drawing/2014/main" val="29190275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Learning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Max_depth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N_estimators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100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925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81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671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46F255C-BB07-4A3B-9D4B-292083A8FA3D}"/>
              </a:ext>
            </a:extLst>
          </p:cNvPr>
          <p:cNvSpPr txBox="1"/>
          <p:nvPr/>
        </p:nvSpPr>
        <p:spPr>
          <a:xfrm>
            <a:off x="6096000" y="4501549"/>
            <a:ext cx="61886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Some tips:</a:t>
            </a:r>
          </a:p>
          <a:p>
            <a:pPr marL="342900" indent="-342900">
              <a:buAutoNum type="arabicPeriod"/>
            </a:pPr>
            <a:r>
              <a:rPr lang="en-US" dirty="0">
                <a:latin typeface="Avenir Next LT Pro" panose="020B0504020202020204" pitchFamily="34" charset="0"/>
              </a:rPr>
              <a:t>Start with coarser grid then refine</a:t>
            </a:r>
          </a:p>
          <a:p>
            <a:pPr marL="342900" indent="-342900">
              <a:buAutoNum type="arabicPeriod"/>
            </a:pPr>
            <a:r>
              <a:rPr lang="en-US" dirty="0">
                <a:latin typeface="Avenir Next LT Pro" panose="020B0504020202020204" pitchFamily="34" charset="0"/>
              </a:rPr>
              <a:t>Not all hyperparameters matter equally</a:t>
            </a:r>
          </a:p>
          <a:p>
            <a:pPr marL="342900" indent="-342900">
              <a:buAutoNum type="arabicPeriod"/>
            </a:pPr>
            <a:r>
              <a:rPr lang="en-US" dirty="0">
                <a:latin typeface="Avenir Next LT Pro" panose="020B0504020202020204" pitchFamily="34" charset="0"/>
              </a:rPr>
              <a:t>Use Random Search when search space is not small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24FB85F5-86C7-7DFA-ED1C-AE8A22FC40CF}"/>
              </a:ext>
            </a:extLst>
          </p:cNvPr>
          <p:cNvSpPr/>
          <p:nvPr/>
        </p:nvSpPr>
        <p:spPr>
          <a:xfrm>
            <a:off x="11161336" y="2498270"/>
            <a:ext cx="306764" cy="111618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77718"/>
      </p:ext>
    </p:extLst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EC29-A349-7FCC-037D-D45784B0B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E7146CE-77EB-6E43-D589-BDA604B3C00F}"/>
              </a:ext>
            </a:extLst>
          </p:cNvPr>
          <p:cNvSpPr txBox="1">
            <a:spLocks/>
          </p:cNvSpPr>
          <p:nvPr/>
        </p:nvSpPr>
        <p:spPr>
          <a:xfrm>
            <a:off x="185057" y="154292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Interpretability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4105A4-B0C6-0A50-51BD-B3CEF948B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4405" y="1031218"/>
            <a:ext cx="6095999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33AF83-DDE7-7A61-D4CD-2D5E602EFE0B}"/>
              </a:ext>
            </a:extLst>
          </p:cNvPr>
          <p:cNvSpPr txBox="1"/>
          <p:nvPr/>
        </p:nvSpPr>
        <p:spPr>
          <a:xfrm>
            <a:off x="185057" y="6425978"/>
            <a:ext cx="92147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Image and some notes from: https://medium.com/data-science/interperable-vs-explainable-machine-learning-1fa525e12f48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8CB61-BF5A-AB33-36D3-7F8791FAA6EF}"/>
              </a:ext>
            </a:extLst>
          </p:cNvPr>
          <p:cNvSpPr txBox="1"/>
          <p:nvPr/>
        </p:nvSpPr>
        <p:spPr>
          <a:xfrm>
            <a:off x="185057" y="973378"/>
            <a:ext cx="51801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Interpretable model – a human can directly understand how the model makes predictions by inspecting its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C27FB-EB31-85E9-D0AE-A31350F34D36}"/>
                  </a:ext>
                </a:extLst>
              </p:cNvPr>
              <p:cNvSpPr txBox="1"/>
              <p:nvPr/>
            </p:nvSpPr>
            <p:spPr>
              <a:xfrm>
                <a:off x="1621971" y="2237014"/>
                <a:ext cx="22577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C27FB-EB31-85E9-D0AE-A31350F34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971" y="2237014"/>
                <a:ext cx="2257734" cy="276999"/>
              </a:xfrm>
              <a:prstGeom prst="rect">
                <a:avLst/>
              </a:prstGeom>
              <a:blipFill>
                <a:blip r:embed="rId4"/>
                <a:stretch>
                  <a:fillRect l="-2162" r="-189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7809CD62-42D0-A666-DBEF-5106553434BC}"/>
              </a:ext>
            </a:extLst>
          </p:cNvPr>
          <p:cNvGrpSpPr/>
          <p:nvPr/>
        </p:nvGrpSpPr>
        <p:grpSpPr>
          <a:xfrm>
            <a:off x="832757" y="3295256"/>
            <a:ext cx="3603172" cy="2640278"/>
            <a:chOff x="985157" y="2781886"/>
            <a:chExt cx="3352800" cy="2383385"/>
          </a:xfrm>
        </p:grpSpPr>
        <p:pic>
          <p:nvPicPr>
            <p:cNvPr id="8" name="Picture 7" descr="The diagram illustrates a decision tree for a customer service process, where the root node determines if the impurity is similar, followed by questions about waiting time, preference for in-person appointments, and whether the customer likes or dislikes the service.&#10;&#10;AI-generated content may be incorrect.">
              <a:extLst>
                <a:ext uri="{FF2B5EF4-FFF2-40B4-BE49-F238E27FC236}">
                  <a16:creationId xmlns:a16="http://schemas.microsoft.com/office/drawing/2014/main" id="{73E6206F-8235-0E9A-AEFF-14CF1DD85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6114" y="2786803"/>
              <a:ext cx="3351843" cy="2378468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FC5DEB3-55CE-DF35-B6C2-48170F0EB899}"/>
                </a:ext>
              </a:extLst>
            </p:cNvPr>
            <p:cNvSpPr/>
            <p:nvPr/>
          </p:nvSpPr>
          <p:spPr>
            <a:xfrm>
              <a:off x="985157" y="2781886"/>
              <a:ext cx="1017995" cy="784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1E52A9A-D8D0-7944-1260-417BA62520CE}"/>
              </a:ext>
            </a:extLst>
          </p:cNvPr>
          <p:cNvSpPr txBox="1"/>
          <p:nvPr/>
        </p:nvSpPr>
        <p:spPr>
          <a:xfrm>
            <a:off x="185057" y="21832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Regression: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7D91B8-C73F-5EA1-3657-D24ECFACF7F0}"/>
              </a:ext>
            </a:extLst>
          </p:cNvPr>
          <p:cNvSpPr txBox="1"/>
          <p:nvPr/>
        </p:nvSpPr>
        <p:spPr>
          <a:xfrm>
            <a:off x="185056" y="30429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Decision trees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19301E-406A-6821-177C-179871BAF6BE}"/>
              </a:ext>
            </a:extLst>
          </p:cNvPr>
          <p:cNvSpPr txBox="1"/>
          <p:nvPr/>
        </p:nvSpPr>
        <p:spPr>
          <a:xfrm>
            <a:off x="5446562" y="303916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Next LT Pro" panose="020B0504020202020204" pitchFamily="34" charset="0"/>
              </a:rPr>
              <a:t>Explainability refers to usage of external methods to explain a model that is not inherently interpretable.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850022-BFC2-4DB3-9D06-92521412E1E8}"/>
              </a:ext>
            </a:extLst>
          </p:cNvPr>
          <p:cNvSpPr txBox="1"/>
          <p:nvPr/>
        </p:nvSpPr>
        <p:spPr>
          <a:xfrm>
            <a:off x="7407729" y="4278085"/>
            <a:ext cx="1812471" cy="1477328"/>
          </a:xfrm>
          <a:prstGeom prst="rect">
            <a:avLst/>
          </a:prstGeom>
          <a:solidFill>
            <a:schemeClr val="tx1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ML Model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54A393-DDA4-7485-07DF-40077C41E8E9}"/>
              </a:ext>
            </a:extLst>
          </p:cNvPr>
          <p:cNvCxnSpPr>
            <a:cxnSpLocks/>
          </p:cNvCxnSpPr>
          <p:nvPr/>
        </p:nvCxnSpPr>
        <p:spPr>
          <a:xfrm>
            <a:off x="5834743" y="4555672"/>
            <a:ext cx="14750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17B5D1-F26D-0227-F482-5E86568BBBDE}"/>
              </a:ext>
            </a:extLst>
          </p:cNvPr>
          <p:cNvCxnSpPr>
            <a:cxnSpLocks/>
          </p:cNvCxnSpPr>
          <p:nvPr/>
        </p:nvCxnSpPr>
        <p:spPr>
          <a:xfrm>
            <a:off x="9220200" y="4544786"/>
            <a:ext cx="7837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46417A-72BE-74B2-0058-348853E35D9B}"/>
              </a:ext>
            </a:extLst>
          </p:cNvPr>
          <p:cNvCxnSpPr>
            <a:cxnSpLocks/>
          </p:cNvCxnSpPr>
          <p:nvPr/>
        </p:nvCxnSpPr>
        <p:spPr>
          <a:xfrm>
            <a:off x="9220200" y="5404758"/>
            <a:ext cx="7837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andstone: Types, Formation, Classification, Uses – Geology In">
            <a:extLst>
              <a:ext uri="{FF2B5EF4-FFF2-40B4-BE49-F238E27FC236}">
                <a16:creationId xmlns:a16="http://schemas.microsoft.com/office/drawing/2014/main" id="{D2D4D0E9-28EC-6E60-4DDB-AFAAFB5F6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8829" y="4222814"/>
            <a:ext cx="890484" cy="59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19B548-8ADD-693C-59B4-E0E3BF149A17}"/>
              </a:ext>
            </a:extLst>
          </p:cNvPr>
          <p:cNvCxnSpPr>
            <a:cxnSpLocks/>
          </p:cNvCxnSpPr>
          <p:nvPr/>
        </p:nvCxnSpPr>
        <p:spPr>
          <a:xfrm>
            <a:off x="5932714" y="5568744"/>
            <a:ext cx="1377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Shale: Identification, Characteristics, and More – Rockhound Resource">
            <a:extLst>
              <a:ext uri="{FF2B5EF4-FFF2-40B4-BE49-F238E27FC236}">
                <a16:creationId xmlns:a16="http://schemas.microsoft.com/office/drawing/2014/main" id="{418A4A16-A7A6-FA50-D15E-984FAA3A9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2371" y="5085941"/>
            <a:ext cx="1201962" cy="80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9E5EB1-7196-6AD9-AAC5-F8971A4A40B2}"/>
                  </a:ext>
                </a:extLst>
              </p:cNvPr>
              <p:cNvSpPr txBox="1"/>
              <p:nvPr/>
            </p:nvSpPr>
            <p:spPr>
              <a:xfrm>
                <a:off x="5494591" y="3828841"/>
                <a:ext cx="1572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𝑏𝑟𝑖𝑡𝑙𝑒𝑛𝑒𝑠𝑠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9E5EB1-7196-6AD9-AAC5-F8971A4A4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591" y="3828841"/>
                <a:ext cx="1572931" cy="276999"/>
              </a:xfrm>
              <a:prstGeom prst="rect">
                <a:avLst/>
              </a:prstGeom>
              <a:blipFill>
                <a:blip r:embed="rId8"/>
                <a:stretch>
                  <a:fillRect l="-3488" r="-348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B41F1B-C318-C0B4-B04C-935CEF158D13}"/>
                  </a:ext>
                </a:extLst>
              </p:cNvPr>
              <p:cNvSpPr txBox="1"/>
              <p:nvPr/>
            </p:nvSpPr>
            <p:spPr>
              <a:xfrm>
                <a:off x="5812970" y="4589152"/>
                <a:ext cx="13162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[18%, 95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0.7]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6B41F1B-C318-C0B4-B04C-935CEF15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970" y="4589152"/>
                <a:ext cx="1316214" cy="307777"/>
              </a:xfrm>
              <a:prstGeom prst="rect">
                <a:avLst/>
              </a:prstGeom>
              <a:blipFill>
                <a:blip r:embed="rId9"/>
                <a:stretch>
                  <a:fillRect r="-15814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4F1B31-8E05-67BE-1F49-73D085573224}"/>
                  </a:ext>
                </a:extLst>
              </p:cNvPr>
              <p:cNvSpPr txBox="1"/>
              <p:nvPr/>
            </p:nvSpPr>
            <p:spPr>
              <a:xfrm>
                <a:off x="5912316" y="5233484"/>
                <a:ext cx="131621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[7%, 5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0.3]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4F1B31-8E05-67BE-1F49-73D085573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316" y="5233484"/>
                <a:ext cx="1316214" cy="307777"/>
              </a:xfrm>
              <a:prstGeom prst="rect">
                <a:avLst/>
              </a:prstGeom>
              <a:blipFill>
                <a:blip r:embed="rId10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640535"/>
      </p:ext>
    </p:extLst>
  </p:cSld>
  <p:clrMapOvr>
    <a:masterClrMapping/>
  </p:clrMapOvr>
  <p:transition spd="med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80E3-5E18-F048-9596-4728BFC4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B5A24D-A064-6255-ED19-CF71DB8CCFB0}"/>
              </a:ext>
            </a:extLst>
          </p:cNvPr>
          <p:cNvSpPr txBox="1">
            <a:spLocks/>
          </p:cNvSpPr>
          <p:nvPr/>
        </p:nvSpPr>
        <p:spPr>
          <a:xfrm>
            <a:off x="185057" y="154292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Shapely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DDAF9-3719-EB03-D5FB-779EB333654A}"/>
              </a:ext>
            </a:extLst>
          </p:cNvPr>
          <p:cNvSpPr txBox="1"/>
          <p:nvPr/>
        </p:nvSpPr>
        <p:spPr>
          <a:xfrm>
            <a:off x="229507" y="897178"/>
            <a:ext cx="981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A method from game theory used to attribute a model’s prediction to individual features.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77B6B3-27DD-8915-D562-F5EDC4DB1FAF}"/>
                  </a:ext>
                </a:extLst>
              </p:cNvPr>
              <p:cNvSpPr txBox="1"/>
              <p:nvPr/>
            </p:nvSpPr>
            <p:spPr>
              <a:xfrm>
                <a:off x="2565162" y="2433755"/>
                <a:ext cx="5430589" cy="7132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∖</m:t>
                          </m:r>
                          <m:r>
                            <m:rPr>
                              <m:lit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lit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! 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d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m:rPr>
                                  <m:lit/>
                                </m:rP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lit/>
                                </m:rP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77B6B3-27DD-8915-D562-F5EDC4DB1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162" y="2433755"/>
                <a:ext cx="5430589" cy="7132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B87131-C9A2-C726-F93F-C7C68F6807F8}"/>
                  </a:ext>
                </a:extLst>
              </p:cNvPr>
              <p:cNvSpPr txBox="1"/>
              <p:nvPr/>
            </p:nvSpPr>
            <p:spPr>
              <a:xfrm>
                <a:off x="7962899" y="4038991"/>
                <a:ext cx="360317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latin typeface="Avenir Next LT Pro" panose="020B0504020202020204" pitchFamily="34" charset="0"/>
                  </a:rPr>
                  <a:t>prediction using only features in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1400" dirty="0">
                  <a:latin typeface="Avenir Next LT Pro" panose="020B05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B87131-C9A2-C726-F93F-C7C68F680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899" y="4038991"/>
                <a:ext cx="3603172" cy="307777"/>
              </a:xfrm>
              <a:prstGeom prst="rect">
                <a:avLst/>
              </a:prstGeom>
              <a:blipFill>
                <a:blip r:embed="rId4"/>
                <a:stretch>
                  <a:fillRect l="-508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015B3C-03F1-C9BD-DB77-6028B6203170}"/>
              </a:ext>
            </a:extLst>
          </p:cNvPr>
          <p:cNvCxnSpPr>
            <a:cxnSpLocks/>
          </p:cNvCxnSpPr>
          <p:nvPr/>
        </p:nvCxnSpPr>
        <p:spPr>
          <a:xfrm>
            <a:off x="7571017" y="2950029"/>
            <a:ext cx="1507669" cy="96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F5E5FA-9687-084E-F2C9-5CC48767961B}"/>
              </a:ext>
            </a:extLst>
          </p:cNvPr>
          <p:cNvCxnSpPr>
            <a:cxnSpLocks/>
          </p:cNvCxnSpPr>
          <p:nvPr/>
        </p:nvCxnSpPr>
        <p:spPr>
          <a:xfrm flipH="1">
            <a:off x="6161313" y="3026620"/>
            <a:ext cx="381000" cy="1012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61D04C-94C7-7439-5D32-3C66841906CB}"/>
                  </a:ext>
                </a:extLst>
              </p:cNvPr>
              <p:cNvSpPr txBox="1"/>
              <p:nvPr/>
            </p:nvSpPr>
            <p:spPr>
              <a:xfrm>
                <a:off x="3967845" y="4038991"/>
                <a:ext cx="360317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dirty="0">
                    <a:latin typeface="Avenir Next LT Pro" panose="020B0504020202020204" pitchFamily="34" charset="0"/>
                  </a:rPr>
                  <a:t>prediction using features in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1" i="0" smtClean="0">
                        <a:latin typeface="Cambria Math" panose="02040503050406030204" pitchFamily="18" charset="0"/>
                      </a:rPr>
                      <m:t>𝐢</m:t>
                    </m:r>
                  </m:oMath>
                </a14:m>
                <a:endParaRPr lang="en-US" sz="1400" b="1" dirty="0">
                  <a:latin typeface="Avenir Next LT Pro" panose="020B0504020202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61D04C-94C7-7439-5D32-3C6684190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845" y="4038991"/>
                <a:ext cx="3603172" cy="307777"/>
              </a:xfrm>
              <a:prstGeom prst="rect">
                <a:avLst/>
              </a:prstGeom>
              <a:blipFill>
                <a:blip r:embed="rId5"/>
                <a:stretch>
                  <a:fillRect l="-508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401A1C5-DFB5-04AC-3366-1A31499922B9}"/>
              </a:ext>
            </a:extLst>
          </p:cNvPr>
          <p:cNvSpPr txBox="1"/>
          <p:nvPr/>
        </p:nvSpPr>
        <p:spPr>
          <a:xfrm>
            <a:off x="4190997" y="1661925"/>
            <a:ext cx="1224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venir Next LT Pro" panose="020B0504020202020204" pitchFamily="34" charset="0"/>
              </a:rPr>
              <a:t>Weight term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6CCE8A-637D-9DA4-2A3A-9AE13D3B9CC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4803320" y="1969702"/>
            <a:ext cx="285751" cy="29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49DD7A-E680-B1F8-4ACD-BE8B8D20A341}"/>
              </a:ext>
            </a:extLst>
          </p:cNvPr>
          <p:cNvSpPr txBox="1"/>
          <p:nvPr/>
        </p:nvSpPr>
        <p:spPr>
          <a:xfrm>
            <a:off x="319766" y="4577427"/>
            <a:ext cx="925285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>
                <a:latin typeface="Avenir Next LT Pro" panose="020B0504020202020204" pitchFamily="34" charset="0"/>
              </a:rPr>
              <a:t>Weighting comes from counting permutations: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LT Pro" panose="020B0504020202020204" pitchFamily="34" charset="0"/>
              </a:rPr>
              <a:t>|N|! — total number of ways to order all N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LT Pro" panose="020B0504020202020204" pitchFamily="34" charset="0"/>
              </a:rPr>
              <a:t>|S|! — number of ways to arrange the features that come before </a:t>
            </a:r>
            <a:r>
              <a:rPr lang="en-US" sz="1400" dirty="0" err="1">
                <a:latin typeface="Avenir Next LT Pro" panose="020B0504020202020204" pitchFamily="34" charset="0"/>
              </a:rPr>
              <a:t>i</a:t>
            </a:r>
            <a:endParaRPr lang="en-US" sz="1400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LT Pro" panose="020B0504020202020204" pitchFamily="34" charset="0"/>
              </a:rPr>
              <a:t>(|N|−|S|−1)! — number of ways to arrange the features that come after 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Next LT Pro" panose="020B0504020202020204" pitchFamily="34" charset="0"/>
            </a:endParaRPr>
          </a:p>
          <a:p>
            <a:r>
              <a:rPr lang="en-US" sz="1400" dirty="0">
                <a:latin typeface="Avenir Next LT Pro" panose="020B0504020202020204" pitchFamily="34" charset="0"/>
              </a:rPr>
              <a:t>The numerator counts how many orderings place exactly the features in S before </a:t>
            </a:r>
            <a:r>
              <a:rPr lang="en-US" sz="1400" dirty="0" err="1">
                <a:latin typeface="Avenir Next LT Pro" panose="020B0504020202020204" pitchFamily="34" charset="0"/>
              </a:rPr>
              <a:t>i</a:t>
            </a:r>
            <a:r>
              <a:rPr lang="en-US" sz="1400" dirty="0">
                <a:latin typeface="Avenir Next LT Pro" panose="020B0504020202020204" pitchFamily="34" charset="0"/>
              </a:rPr>
              <a:t> → dividing by |N|! gives the probability of that specific arrangement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81CC6E-4D99-6EDD-C436-1638AA446DBC}"/>
              </a:ext>
            </a:extLst>
          </p:cNvPr>
          <p:cNvSpPr txBox="1"/>
          <p:nvPr/>
        </p:nvSpPr>
        <p:spPr>
          <a:xfrm>
            <a:off x="229507" y="6429728"/>
            <a:ext cx="107891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Lundberg, Scott M., and Su-In Lee. "A unified approach to interpreting model predictions." </a:t>
            </a:r>
            <a:r>
              <a:rPr lang="en-US" sz="1050" b="0" i="1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sz="105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 30 (2017).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856281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B3F93-2BD7-7D1E-8D33-7FCEA34D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89718-6B35-4F95-AFF3-F3DDA665684B}" type="slidenum">
              <a:rPr lang="en-US" smtClean="0"/>
              <a:t>22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DD1451-4F43-DDBD-F6E0-207E5CBC37F3}"/>
              </a:ext>
            </a:extLst>
          </p:cNvPr>
          <p:cNvSpPr txBox="1">
            <a:spLocks/>
          </p:cNvSpPr>
          <p:nvPr/>
        </p:nvSpPr>
        <p:spPr>
          <a:xfrm>
            <a:off x="185057" y="154292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Marginal contributions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D12FD-B11C-BC28-970C-B04F14E63D7C}"/>
              </a:ext>
            </a:extLst>
          </p:cNvPr>
          <p:cNvSpPr txBox="1"/>
          <p:nvPr/>
        </p:nvSpPr>
        <p:spPr>
          <a:xfrm>
            <a:off x="185056" y="960315"/>
            <a:ext cx="110163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Next LT Pro" panose="020B0504020202020204" pitchFamily="34" charset="0"/>
              </a:rPr>
              <a:t>Example: A WAG (EOR) study is applied to reservoir together and team wants identify marginal contributions of each study. We have prior data for value of -  water injection alone and CO₂ injection alone.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4411A49-A4E8-61A5-EA81-C5E6F120B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1691022"/>
            <a:ext cx="98424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latin typeface="Avenir Next LT Pro" panose="020B05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venir Next LT Pro" panose="020B0504020202020204" pitchFamily="34" charset="0"/>
              </a:rPr>
              <a:t>f(0)=0	f(water) = 500 MSTB  		f(CO₂) = 700 MSTB   		f(water, CO₂) = 1,500 MSTB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B4508F-7FA8-53EC-CBD1-10B9F2086B7F}"/>
              </a:ext>
            </a:extLst>
          </p:cNvPr>
          <p:cNvSpPr txBox="1"/>
          <p:nvPr/>
        </p:nvSpPr>
        <p:spPr>
          <a:xfrm>
            <a:off x="185056" y="2702567"/>
            <a:ext cx="100955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venir Next LT Pro" panose="020B0504020202020204" pitchFamily="34" charset="0"/>
              </a:rPr>
              <a:t>Contribution of water </a:t>
            </a:r>
            <a:r>
              <a:rPr lang="en-US" sz="1600" dirty="0">
                <a:latin typeface="Avenir Next LT Pro" panose="020B0504020202020204" pitchFamily="34" charset="0"/>
              </a:rPr>
              <a:t>= avg of (contribution of water alone </a:t>
            </a:r>
            <a:r>
              <a:rPr lang="en-US" sz="1600" b="1" dirty="0">
                <a:latin typeface="Avenir Next LT Pro" panose="020B0504020202020204" pitchFamily="34" charset="0"/>
              </a:rPr>
              <a:t>&amp; </a:t>
            </a:r>
            <a:r>
              <a:rPr lang="en-US" sz="1600" dirty="0">
                <a:latin typeface="Avenir Next LT Pro" panose="020B0504020202020204" pitchFamily="34" charset="0"/>
              </a:rPr>
              <a:t>marginal value when added after CO₂)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FEA8D-07D2-D7ED-D200-ADCFBFAD9F7C}"/>
              </a:ext>
            </a:extLst>
          </p:cNvPr>
          <p:cNvSpPr txBox="1"/>
          <p:nvPr/>
        </p:nvSpPr>
        <p:spPr>
          <a:xfrm>
            <a:off x="185056" y="4671052"/>
            <a:ext cx="100955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Avenir Next LT Pro" panose="020B0504020202020204" pitchFamily="34" charset="0"/>
              </a:rPr>
              <a:t>Contribution of CO₂ </a:t>
            </a:r>
            <a:r>
              <a:rPr lang="en-US" sz="1600" dirty="0">
                <a:latin typeface="Avenir Next LT Pro" panose="020B0504020202020204" pitchFamily="34" charset="0"/>
              </a:rPr>
              <a:t>= avg of (contribution of CO₂ alone </a:t>
            </a:r>
            <a:r>
              <a:rPr lang="en-US" sz="1600" b="1" dirty="0">
                <a:latin typeface="Avenir Next LT Pro" panose="020B0504020202020204" pitchFamily="34" charset="0"/>
              </a:rPr>
              <a:t>&amp; </a:t>
            </a:r>
            <a:r>
              <a:rPr lang="en-US" sz="1600" dirty="0">
                <a:latin typeface="Avenir Next LT Pro" panose="020B0504020202020204" pitchFamily="34" charset="0"/>
              </a:rPr>
              <a:t>marginal value when added after water) </a:t>
            </a:r>
          </a:p>
        </p:txBody>
      </p:sp>
      <p:pic>
        <p:nvPicPr>
          <p:cNvPr id="16" name="Picture 15" descr="The text appears to be a mathematical equation related to a chemical process, calculating the change in water's enthalpy (heat content) based on the enthalpies of water and CO2, resulting in a net enthalpy change of 650 MSTB.&#10;&#10;AI-generated content may be incorrect.">
            <a:extLst>
              <a:ext uri="{FF2B5EF4-FFF2-40B4-BE49-F238E27FC236}">
                <a16:creationId xmlns:a16="http://schemas.microsoft.com/office/drawing/2014/main" id="{588C72E4-1C2E-365F-308C-08C110CE4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97" y="3260760"/>
            <a:ext cx="9176203" cy="956862"/>
          </a:xfrm>
          <a:prstGeom prst="rect">
            <a:avLst/>
          </a:prstGeom>
        </p:spPr>
      </p:pic>
      <p:pic>
        <p:nvPicPr>
          <p:cNvPr id="19" name="Picture 18" descr="The text appears to be a mathematical expression involving the variables CO2, water, and other unspecified variables, resulting in a value of 850 MSTB.&#10;&#10;AI-generated content may be incorrect.">
            <a:extLst>
              <a:ext uri="{FF2B5EF4-FFF2-40B4-BE49-F238E27FC236}">
                <a16:creationId xmlns:a16="http://schemas.microsoft.com/office/drawing/2014/main" id="{EA529974-1B13-F012-B127-3216D289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9" y="5206330"/>
            <a:ext cx="9429750" cy="82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9554"/>
      </p:ext>
    </p:extLst>
  </p:cSld>
  <p:clrMapOvr>
    <a:masterClrMapping/>
  </p:clrMapOvr>
  <p:transition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2EA6-2A6F-6ED4-0886-FC59D86F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I&#10;&#10;AI-generated content may be incorrect.">
            <a:extLst>
              <a:ext uri="{FF2B5EF4-FFF2-40B4-BE49-F238E27FC236}">
                <a16:creationId xmlns:a16="http://schemas.microsoft.com/office/drawing/2014/main" id="{22B85862-6D4C-FB7B-C3D3-FCBD67F0F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60" y="1481550"/>
            <a:ext cx="5786890" cy="2926347"/>
          </a:xfrm>
          <a:prstGeom prst="rect">
            <a:avLst/>
          </a:prstGeom>
        </p:spPr>
      </p:pic>
      <p:pic>
        <p:nvPicPr>
          <p:cNvPr id="16" name="Picture 15" descr="The image depicts a force-extension plot for a sample with an area of 2.36 mm^2, TOC of 2.14, porosity of 20.52%, and a VR of 2.31.&#10;&#10;AI-generated content may be incorrect.">
            <a:extLst>
              <a:ext uri="{FF2B5EF4-FFF2-40B4-BE49-F238E27FC236}">
                <a16:creationId xmlns:a16="http://schemas.microsoft.com/office/drawing/2014/main" id="{4D1B0EC6-70E8-9790-B25C-570CEA4E89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95"/>
          <a:stretch>
            <a:fillRect/>
          </a:stretch>
        </p:blipFill>
        <p:spPr>
          <a:xfrm>
            <a:off x="0" y="4825112"/>
            <a:ext cx="12192000" cy="2022870"/>
          </a:xfrm>
          <a:prstGeom prst="rect">
            <a:avLst/>
          </a:prstGeom>
        </p:spPr>
      </p:pic>
      <p:pic>
        <p:nvPicPr>
          <p:cNvPr id="19" name="Picture 18" descr="The diagram is a scatter plot depicting the relationship between Salience (SAL) and Predictive Power (Por) for various SHAP (SHapley Additive exPlanation) values, with the x-axis representing SAL and the y-axis representing Por.&#10;&#10;AI-generated content may be incorrect.">
            <a:extLst>
              <a:ext uri="{FF2B5EF4-FFF2-40B4-BE49-F238E27FC236}">
                <a16:creationId xmlns:a16="http://schemas.microsoft.com/office/drawing/2014/main" id="{6BE13AEA-B110-D22C-D17E-BF58257936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800" y="1372040"/>
            <a:ext cx="5232200" cy="340668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1CFC1F1-A038-C9DD-5CA2-EC7BD97D54F5}"/>
              </a:ext>
            </a:extLst>
          </p:cNvPr>
          <p:cNvSpPr txBox="1">
            <a:spLocks/>
          </p:cNvSpPr>
          <p:nvPr/>
        </p:nvSpPr>
        <p:spPr>
          <a:xfrm>
            <a:off x="264660" y="185563"/>
            <a:ext cx="4586740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Shap</a:t>
            </a: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095004982"/>
      </p:ext>
    </p:extLst>
  </p:cSld>
  <p:clrMapOvr>
    <a:masterClrMapping/>
  </p:clrMapOvr>
  <p:transition spd="med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9C73-508C-5A0E-BAE7-6DCBBE70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AC3928-5A3C-DD83-104F-364D3DDAD001}"/>
              </a:ext>
            </a:extLst>
          </p:cNvPr>
          <p:cNvSpPr txBox="1">
            <a:spLocks/>
          </p:cNvSpPr>
          <p:nvPr/>
        </p:nvSpPr>
        <p:spPr>
          <a:xfrm>
            <a:off x="129701" y="88363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Capstone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93D2C-C1F3-11F8-D942-CA2F4DC5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24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6CCA8F-5A05-2E92-815D-2D8A8C6B3CE6}"/>
              </a:ext>
            </a:extLst>
          </p:cNvPr>
          <p:cNvSpPr txBox="1"/>
          <p:nvPr/>
        </p:nvSpPr>
        <p:spPr>
          <a:xfrm>
            <a:off x="129701" y="728214"/>
            <a:ext cx="106253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Avenir Next LT Pro" panose="020B0504020202020204" pitchFamily="34" charset="0"/>
            </a:endParaRPr>
          </a:p>
          <a:p>
            <a:r>
              <a:rPr lang="en-US" sz="1600" dirty="0">
                <a:latin typeface="Avenir Next LT Pro" panose="020B0504020202020204" pitchFamily="34" charset="0"/>
              </a:rPr>
              <a:t>Project will include 10-minute presentation with optional code example. You will receive a form for adding your project selection and confirming attendance. </a:t>
            </a:r>
          </a:p>
          <a:p>
            <a:endParaRPr lang="en-US" sz="1600" dirty="0">
              <a:latin typeface="Avenir Next LT Pro" panose="020B0504020202020204" pitchFamily="34" charset="0"/>
            </a:endParaRPr>
          </a:p>
          <a:p>
            <a:endParaRPr lang="en-US" sz="1600" dirty="0">
              <a:latin typeface="Avenir Next LT Pro" panose="020B0504020202020204" pitchFamily="34" charset="0"/>
            </a:endParaRPr>
          </a:p>
          <a:p>
            <a:r>
              <a:rPr lang="en-US" sz="1600" b="1" dirty="0">
                <a:latin typeface="Avenir Next LT Pro" panose="020B0504020202020204" pitchFamily="34" charset="0"/>
              </a:rPr>
              <a:t>This is not a case study; </a:t>
            </a:r>
            <a:r>
              <a:rPr lang="en-US" sz="1600" dirty="0">
                <a:latin typeface="Avenir Next LT Pro" panose="020B0504020202020204" pitchFamily="34" charset="0"/>
              </a:rPr>
              <a:t>pick a topic you would like to explain and show:</a:t>
            </a:r>
          </a:p>
          <a:p>
            <a:pPr marL="800100" lvl="1" indent="-342900">
              <a:buAutoNum type="arabicPeriod"/>
            </a:pPr>
            <a:r>
              <a:rPr lang="en-US" sz="1600" dirty="0">
                <a:latin typeface="Avenir Next LT Pro" panose="020B0504020202020204" pitchFamily="34" charset="0"/>
              </a:rPr>
              <a:t>How algorithm/approach works</a:t>
            </a:r>
          </a:p>
          <a:p>
            <a:pPr marL="800100" lvl="1" indent="-342900">
              <a:buAutoNum type="arabicPeriod"/>
            </a:pPr>
            <a:r>
              <a:rPr lang="en-US" sz="1600" dirty="0">
                <a:latin typeface="Avenir Next LT Pro" panose="020B0504020202020204" pitchFamily="34" charset="0"/>
              </a:rPr>
              <a:t>Pros/Cons</a:t>
            </a:r>
          </a:p>
          <a:p>
            <a:pPr marL="800100" lvl="1" indent="-342900">
              <a:buAutoNum type="arabicPeriod"/>
            </a:pPr>
            <a:r>
              <a:rPr lang="en-US" sz="1600" dirty="0">
                <a:latin typeface="Avenir Next LT Pro" panose="020B0504020202020204" pitchFamily="34" charset="0"/>
              </a:rPr>
              <a:t>Parameter selection (if applicable)</a:t>
            </a:r>
          </a:p>
          <a:p>
            <a:pPr marL="800100" lvl="1" indent="-342900">
              <a:buAutoNum type="arabicPeriod"/>
            </a:pPr>
            <a:endParaRPr lang="en-US" sz="1600" dirty="0">
              <a:latin typeface="Avenir Next LT Pro" panose="020B0504020202020204" pitchFamily="34" charset="0"/>
            </a:endParaRPr>
          </a:p>
          <a:p>
            <a:pPr lvl="1"/>
            <a:endParaRPr lang="en-US" sz="1600" dirty="0">
              <a:latin typeface="Avenir Next LT Pro" panose="020B0504020202020204" pitchFamily="34" charset="0"/>
            </a:endParaRPr>
          </a:p>
          <a:p>
            <a:r>
              <a:rPr lang="en-US" sz="1600" b="1" dirty="0">
                <a:latin typeface="Avenir Next LT Pro" panose="020B0504020202020204" pitchFamily="34" charset="0"/>
              </a:rPr>
              <a:t>Grade distribution: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Avenir Next LT Pro" panose="020B0504020202020204" pitchFamily="34" charset="0"/>
              </a:rPr>
              <a:t>60% understanding and clarity of teaching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Avenir Next LT Pro" panose="020B0504020202020204" pitchFamily="34" charset="0"/>
              </a:rPr>
              <a:t>20% slides deck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Avenir Next LT Pro" panose="020B0504020202020204" pitchFamily="34" charset="0"/>
              </a:rPr>
              <a:t>20% code example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Avenir Next LT Pro" panose="020B0504020202020204" pitchFamily="34" charset="0"/>
              </a:rPr>
              <a:t>10% further reading resources (bonus)</a:t>
            </a:r>
          </a:p>
          <a:p>
            <a:pPr marL="800100" lvl="1" indent="-342900">
              <a:buAutoNum type="arabicPeriod"/>
            </a:pPr>
            <a:endParaRPr lang="en-US" sz="1600" b="1" dirty="0">
              <a:latin typeface="Avenir Next LT Pro" panose="020B0504020202020204" pitchFamily="34" charset="0"/>
            </a:endParaRPr>
          </a:p>
          <a:p>
            <a:pPr lvl="1"/>
            <a:endParaRPr lang="en-US" sz="1600" dirty="0">
              <a:latin typeface="Avenir Next LT Pro" panose="020B05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6E6C8B-0250-028B-39D8-3571DD11B303}"/>
              </a:ext>
            </a:extLst>
          </p:cNvPr>
          <p:cNvSpPr txBox="1"/>
          <p:nvPr/>
        </p:nvSpPr>
        <p:spPr>
          <a:xfrm>
            <a:off x="8176100" y="1892440"/>
            <a:ext cx="361857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venir Next LT Pro" panose="020B0504020202020204" pitchFamily="34" charset="0"/>
              </a:rPr>
              <a:t>Some ideas:</a:t>
            </a:r>
          </a:p>
          <a:p>
            <a:pPr marL="342900" indent="-342900">
              <a:buAutoNum type="arabicParenR"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Handling imbalanced datasets 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Partial Correlation Coefficient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Data leakages (how to avoid it)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Metrics (ROC curve and AUC etc.)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Support vector machines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Local Outlier Factor 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Hierarchical clustering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T-SNE </a:t>
            </a:r>
          </a:p>
          <a:p>
            <a:pPr marL="342900" indent="-342900">
              <a:buAutoNum type="arabicParenR"/>
            </a:pPr>
            <a:r>
              <a:rPr lang="en-US" sz="1400" dirty="0">
                <a:latin typeface="Avenir Next LT Pro" panose="020B0504020202020204" pitchFamily="34" charset="0"/>
              </a:rPr>
              <a:t>Explainability - LIME </a:t>
            </a:r>
          </a:p>
          <a:p>
            <a:pPr marL="342900" indent="-342900">
              <a:buAutoNum type="arabicParenR"/>
            </a:pPr>
            <a:endParaRPr lang="en-US" sz="1400" dirty="0">
              <a:latin typeface="Avenir Next LT Pro" panose="020B0504020202020204" pitchFamily="34" charset="0"/>
            </a:endParaRPr>
          </a:p>
          <a:p>
            <a:pPr marL="342900" indent="-342900">
              <a:buAutoNum type="arabicParenR"/>
            </a:pPr>
            <a:endParaRPr lang="en-US" sz="1400" dirty="0">
              <a:latin typeface="Avenir Next LT Pro" panose="020B05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04D33-7DDA-1DF3-4F15-B89239F5E063}"/>
              </a:ext>
            </a:extLst>
          </p:cNvPr>
          <p:cNvSpPr txBox="1"/>
          <p:nvPr/>
        </p:nvSpPr>
        <p:spPr>
          <a:xfrm>
            <a:off x="358765" y="5587733"/>
            <a:ext cx="11060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venir Next LT Pro" panose="020B0504020202020204" pitchFamily="34" charset="0"/>
              </a:rPr>
              <a:t>*Low-pressure meeting, no judgment for not knowing something—our goal is simply to learn together.</a:t>
            </a:r>
          </a:p>
        </p:txBody>
      </p:sp>
    </p:spTree>
    <p:extLst>
      <p:ext uri="{BB962C8B-B14F-4D97-AF65-F5344CB8AC3E}">
        <p14:creationId xmlns:p14="http://schemas.microsoft.com/office/powerpoint/2010/main" val="866461672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2584-6C7E-FD78-7D6A-D55B53BA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EBA9741-8CCF-29BD-BD4C-7B7200DCB3C0}"/>
              </a:ext>
            </a:extLst>
          </p:cNvPr>
          <p:cNvSpPr txBox="1">
            <a:spLocks/>
          </p:cNvSpPr>
          <p:nvPr/>
        </p:nvSpPr>
        <p:spPr>
          <a:xfrm>
            <a:off x="432156" y="250141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EF9B3-C799-E993-27E1-FD13D3F2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498" y="6396106"/>
            <a:ext cx="2743200" cy="365125"/>
          </a:xfrm>
        </p:spPr>
        <p:txBody>
          <a:bodyPr/>
          <a:lstStyle/>
          <a:p>
            <a:fld id="{A0A89718-6B35-4F95-AFF3-F3DDA665684B}" type="slidenum">
              <a:rPr lang="en-US" smtClean="0"/>
              <a:t>25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FE9D0F-9D6F-ABA3-71BF-89CA228ADE4B}"/>
              </a:ext>
            </a:extLst>
          </p:cNvPr>
          <p:cNvSpPr txBox="1"/>
          <p:nvPr/>
        </p:nvSpPr>
        <p:spPr>
          <a:xfrm>
            <a:off x="500742" y="1189319"/>
            <a:ext cx="8641088" cy="1292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venir Next LT Pro" panose="020B0504020202020204" pitchFamily="34" charset="0"/>
              </a:rPr>
              <a:t>Shapely:</a:t>
            </a:r>
            <a:endParaRPr lang="en-US" dirty="0">
              <a:latin typeface="Avenir Next LT Pro" panose="020B0504020202020204" pitchFamily="34" charset="0"/>
              <a:hlinkClick r:id="rId3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Avenir Next LT Pro" panose="020B0504020202020204" pitchFamily="34" charset="0"/>
                <a:hlinkClick r:id="rId3"/>
              </a:rPr>
              <a:t>https://www.youtube.com/watch?v=9haIOplEIGM</a:t>
            </a:r>
            <a:endParaRPr lang="en-US" dirty="0">
              <a:latin typeface="Avenir Next LT Pro" panose="020B05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Avenir Next LT Pro" panose="020B0504020202020204" pitchFamily="34" charset="0"/>
              </a:rPr>
              <a:t>https://www.youtube.com/watch?v=oCIybnawLdg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66C9B-2A46-E294-572E-0971ADA529C5}"/>
              </a:ext>
            </a:extLst>
          </p:cNvPr>
          <p:cNvSpPr txBox="1"/>
          <p:nvPr/>
        </p:nvSpPr>
        <p:spPr>
          <a:xfrm>
            <a:off x="500742" y="3755956"/>
            <a:ext cx="7805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https://mceri.engr.tamu.edu/images/general/streamline_depict.png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5DEA196-1D51-9104-FBB4-27B1625C8E88}"/>
              </a:ext>
            </a:extLst>
          </p:cNvPr>
          <p:cNvSpPr txBox="1">
            <a:spLocks/>
          </p:cNvSpPr>
          <p:nvPr/>
        </p:nvSpPr>
        <p:spPr>
          <a:xfrm>
            <a:off x="500742" y="2906255"/>
            <a:ext cx="8224622" cy="878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venir Next LT Pro" panose="020B0504020202020204" pitchFamily="34" charset="0"/>
              </a:rPr>
              <a:t>Image references</a:t>
            </a:r>
          </a:p>
        </p:txBody>
      </p:sp>
    </p:spTree>
    <p:extLst>
      <p:ext uri="{BB962C8B-B14F-4D97-AF65-F5344CB8AC3E}">
        <p14:creationId xmlns:p14="http://schemas.microsoft.com/office/powerpoint/2010/main" val="2257120095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4029</TotalTime>
  <Words>2033</Words>
  <Application>Microsoft Office PowerPoint</Application>
  <PresentationFormat>Widescreen</PresentationFormat>
  <Paragraphs>431</Paragraphs>
  <Slides>25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Avenir Next LT Pro</vt:lpstr>
      <vt:lpstr>Avenir Next LT Pro Light</vt:lpstr>
      <vt:lpstr>Calibri</vt:lpstr>
      <vt:lpstr>Calibri Light</vt:lpstr>
      <vt:lpstr>Cambria Math</vt:lpstr>
      <vt:lpstr>Consolas</vt:lpstr>
      <vt:lpstr>Gabriola</vt:lpstr>
      <vt:lpstr>Posterama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Dursun</dc:creator>
  <cp:lastModifiedBy>Dursun Dashdamirov</cp:lastModifiedBy>
  <cp:revision>38</cp:revision>
  <dcterms:created xsi:type="dcterms:W3CDTF">2023-01-19T14:44:14Z</dcterms:created>
  <dcterms:modified xsi:type="dcterms:W3CDTF">2026-03-31T16:52:45Z</dcterms:modified>
</cp:coreProperties>
</file>